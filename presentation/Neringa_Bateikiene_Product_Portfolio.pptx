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3c2e9975ea476c" /><Relationship Type="http://schemas.openxmlformats.org/officeDocument/2006/relationships/extended-properties" Target="/docProps/app.xml" Id="R519d4886078d4215" /><Relationship Type="http://schemas.openxmlformats.org/officeDocument/2006/relationships/officeDocument" Target="/ppt/presentation.xml" Id="R6f4c4732f1434b7f" /></Relationships>
</file>

<file path=ppt/presentation.xml><?xml version="1.0" encoding="utf-8"?>
<p:presentation xmlns:p="http://schemas.openxmlformats.org/presentationml/2006/main">
  <p:sldMasterIdLst>
    <p:sldMasterId xmlns:r="http://schemas.openxmlformats.org/officeDocument/2006/relationships" id="2147483648" r:id="Red468cf1d02c4ff7"/>
  </p:sldMasterIdLst>
  <p:notesMasterIdLst>
    <p:notesMasterId xmlns:r="http://schemas.openxmlformats.org/officeDocument/2006/relationships" r:id="R53abc76751c74ee4"/>
  </p:notesMasterIdLst>
  <p:sldIdLst>
    <p:sldId xmlns:r="http://schemas.openxmlformats.org/officeDocument/2006/relationships" id="256" r:id="R5f641abad51d4532"/>
    <p:sldId xmlns:r="http://schemas.openxmlformats.org/officeDocument/2006/relationships" id="257" r:id="R40deab13e7014a46"/>
    <p:sldId xmlns:r="http://schemas.openxmlformats.org/officeDocument/2006/relationships" id="258" r:id="R3e7c968d84e44e03"/>
    <p:sldId xmlns:r="http://schemas.openxmlformats.org/officeDocument/2006/relationships" id="259" r:id="R5572ae4f1d8b4f6f"/>
    <p:sldId xmlns:r="http://schemas.openxmlformats.org/officeDocument/2006/relationships" id="260" r:id="Rb08e95c327f14c13"/>
    <p:sldId xmlns:r="http://schemas.openxmlformats.org/officeDocument/2006/relationships" id="261" r:id="Rd7071d1e5ed24d42"/>
    <p:sldId xmlns:r="http://schemas.openxmlformats.org/officeDocument/2006/relationships" id="262" r:id="Rd4c2f01a309d49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3848ccf3304c72" /><Relationship Type="http://schemas.openxmlformats.org/officeDocument/2006/relationships/slideMaster" Target="/ppt/slideMasters/slideMaster1.xml" Id="Red468cf1d02c4ff7" /><Relationship Type="http://schemas.openxmlformats.org/officeDocument/2006/relationships/notesMaster" Target="/ppt/notesMasters/notesMaster1.xml" Id="R53abc76751c74ee4" /><Relationship Type="http://schemas.openxmlformats.org/officeDocument/2006/relationships/presProps" Target="/ppt/presProps.xml" Id="Rc7b58c2beffb435e" /><Relationship Type="http://schemas.openxmlformats.org/officeDocument/2006/relationships/tableStyles" Target="/ppt/tableStyles.xml" Id="Rde810ecb04b248c0" /><Relationship Type="http://schemas.openxmlformats.org/officeDocument/2006/relationships/slide" Target="/ppt/slides/slide1.xml" Id="R5f641abad51d4532" /><Relationship Type="http://schemas.openxmlformats.org/officeDocument/2006/relationships/slide" Target="/ppt/slides/slide2.xml" Id="R40deab13e7014a46" /><Relationship Type="http://schemas.openxmlformats.org/officeDocument/2006/relationships/slide" Target="/ppt/slides/slide3.xml" Id="R3e7c968d84e44e03" /><Relationship Type="http://schemas.openxmlformats.org/officeDocument/2006/relationships/slide" Target="/ppt/slides/slide4.xml" Id="R5572ae4f1d8b4f6f" /><Relationship Type="http://schemas.openxmlformats.org/officeDocument/2006/relationships/slide" Target="/ppt/slides/slide5.xml" Id="Rb08e95c327f14c13" /><Relationship Type="http://schemas.openxmlformats.org/officeDocument/2006/relationships/slide" Target="/ppt/slides/slide6.xml" Id="Rd7071d1e5ed24d42" /><Relationship Type="http://schemas.openxmlformats.org/officeDocument/2006/relationships/slide" Target="/ppt/slides/slide7.xml" Id="Rd4c2f01a309d49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dba1c164034d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ortfolio">
  <a:themeElements>
    <a:clrScheme name="Portfoli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65f1efba3d4c7d" /><Relationship Type="http://schemas.openxmlformats.org/officeDocument/2006/relationships/notesMaster" Target="/ppt/notesMasters/notesMaster1.xml" Id="R66f9bc76d0d24a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f39ee47dd34182" /><Relationship Type="http://schemas.openxmlformats.org/officeDocument/2006/relationships/notesMaster" Target="/ppt/notesMasters/notesMaster1.xml" Id="R47792fbc3c8542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47978ac6a34ef9" /><Relationship Type="http://schemas.openxmlformats.org/officeDocument/2006/relationships/notesMaster" Target="/ppt/notesMasters/notesMaster1.xml" Id="R894363ca8f1a4b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8b229875974e84" /><Relationship Type="http://schemas.openxmlformats.org/officeDocument/2006/relationships/notesMaster" Target="/ppt/notesMasters/notesMaster1.xml" Id="Rc6be9f4e2faf4f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1cef2986c9449b" /><Relationship Type="http://schemas.openxmlformats.org/officeDocument/2006/relationships/notesMaster" Target="/ppt/notesMasters/notesMaster1.xml" Id="R4b61daef272846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c0ee78747745c6" /><Relationship Type="http://schemas.openxmlformats.org/officeDocument/2006/relationships/notesMaster" Target="/ppt/notesMasters/notesMaster1.xml" Id="R37f2f58cb31a44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539f7e7a8c44a5" /><Relationship Type="http://schemas.openxmlformats.org/officeDocument/2006/relationships/notesMaster" Target="/ppt/notesMasters/notesMaster1.xml" Id="Rb470cc2a5a2247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two personal applications that I develop around real needs. Career CRM supports my own job search. NB Accounting applies my accounting and systems analysis experience to bookkeeping workflows. My contribution is to define the problem and expected behaviour, make detailed rules, choose what to improve, and check the result. I use AI coding tools to implement and refine the code. These projects give me specific decisions and working processes to discuss, rather than only a list of tools.</a:t>
            </a:r>
          </a:p>
          <a:p xmlns:a="http://schemas.openxmlformats.org/drawingml/2006/main">
            <a:r>
              <a:t/>
            </a:r>
          </a:p>
          <a:p xmlns:a="http://schemas.openxmlformats.org/drawingml/2006/main">
            <a:r>
              <a:t>Sources</a:t>
            </a:r>
          </a:p>
          <a:p xmlns:a="http://schemas.openxmlformats.org/drawingml/2006/main">
            <a:r>
              <a:t>https://github.com/neringabateikiene</a:t>
            </a:r>
          </a:p>
          <a:p xmlns:a="http://schemas.openxmlformats.org/drawingml/2006/main">
            <a:r>
              <a:t>https://github.com/neringabateikiene/neringabateikiene/tree/main/projects/career-crm</a:t>
            </a:r>
          </a:p>
          <a:p xmlns:a="http://schemas.openxmlformats.org/drawingml/2006/main">
            <a:r>
              <a:t>https://github.com/neringabateikiene/neringabateikiene/tree/main/projects/nb-accounting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needed a clearer way to manage my own job search across different sources. The application keeps opportunities, companies, candidacies and events together. I define what each state means and how the next action changes the record. Imported links are normalised and checked for duplicates. Job discovery uses AI, while a separate check records whether a listing appears active, inactive or uncertain. I use the application myself, notice missing or inconsistent behaviour, and use those observations to decide the next change.</a:t>
            </a:r>
          </a:p>
          <a:p xmlns:a="http://schemas.openxmlformats.org/drawingml/2006/main">
            <a:r>
              <a:t/>
            </a:r>
          </a:p>
          <a:p xmlns:a="http://schemas.openxmlformats.org/drawingml/2006/main">
            <a:r>
              <a:t>Sources</a:t>
            </a:r>
          </a:p>
          <a:p xmlns:a="http://schemas.openxmlformats.org/drawingml/2006/main">
            <a:r>
              <a:t>https://github.com/neringabateikiene/neringabateikiene/tree/main/projects/career-crm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most useful decisions to discuss. An email may contain an invitation, a rejection or an ambiguous update. AI proposes a structured event, but I keep a review step where the user can edit or reject it. Approval still has to satisfy the application rules. I would demonstrate the proposal and the resulting event, then explain why I separated interpretation from the final change. The design question is where automation saves effort and where a person must remain in control.</a:t>
            </a:r>
          </a:p>
          <a:p xmlns:a="http://schemas.openxmlformats.org/drawingml/2006/main">
            <a:r>
              <a:t/>
            </a:r>
          </a:p>
          <a:p xmlns:a="http://schemas.openxmlformats.org/drawingml/2006/main">
            <a:r>
              <a:t>Sources</a:t>
            </a:r>
          </a:p>
          <a:p xmlns:a="http://schemas.openxmlformats.org/drawingml/2006/main">
            <a:r>
              <a:t>https://github.com/neringabateikiene/neringabateikiene/tree/main/projects/career-crm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NB Accounting is a personal bookkeeping application. The important design issue is how source data becomes an accounting record. Marketplace imports stay in staging before they become drafts. Review and posting are separate steps, and only posted documents contribute to reports. I define the document states, account and tax mappings, duplicate handling and correction rules. My accounting background helps me describe both the ordinary path and the exceptions that could otherwise produce incorrect results.</a:t>
            </a:r>
          </a:p>
          <a:p xmlns:a="http://schemas.openxmlformats.org/drawingml/2006/main">
            <a:r>
              <a:t/>
            </a:r>
          </a:p>
          <a:p xmlns:a="http://schemas.openxmlformats.org/drawingml/2006/main">
            <a:r>
              <a:t>Sources</a:t>
            </a:r>
          </a:p>
          <a:p xmlns:a="http://schemas.openxmlformats.org/drawingml/2006/main">
            <a:r>
              <a:t>https://github.com/neringabateikiene/neringabateikiene/tree/main/projects/nb-accounting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show the level of detail that matters to me. Closing a period should have a clear consequence: a document cannot later be posted inside that closed period. The system also checks for draft documents before closure. For payment exports, producing XML is only one part of the task. Required fields, amounts and schema structure also need checks. The repository contains automated tests for these areas. These examples describe the implemented rules, not a claim that the whole application has been certified or audited.</a:t>
            </a:r>
          </a:p>
          <a:p xmlns:a="http://schemas.openxmlformats.org/drawingml/2006/main">
            <a:r>
              <a:t/>
            </a:r>
          </a:p>
          <a:p xmlns:a="http://schemas.openxmlformats.org/drawingml/2006/main">
            <a:r>
              <a:t>Sources</a:t>
            </a:r>
          </a:p>
          <a:p xmlns:a="http://schemas.openxmlformats.org/drawingml/2006/main">
            <a:r>
              <a:t>https://github.com/neringabateikiene/neringabateikiene/tree/main/projects/nb-accounting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 with the problem and the behaviour I need, rather than choosing a technology for its own sake. I describe the workflow, states, rules and exceptions, then use AI coding tools to implement a change. I use the application and check the result against the expected behaviour. When it does not match, I describe the defect, choose its priority and request a correction. This is personal application development with AI assistance. I do not present it as a separate employment role or claim that I manually wrote every line of code.</a:t>
            </a:r>
          </a:p>
          <a:p xmlns:a="http://schemas.openxmlformats.org/drawingml/2006/main">
            <a:r>
              <a:t/>
            </a:r>
          </a:p>
          <a:p xmlns:a="http://schemas.openxmlformats.org/drawingml/2006/main">
            <a:r>
              <a:t>Sources</a:t>
            </a:r>
          </a:p>
          <a:p xmlns:a="http://schemas.openxmlformats.org/drawingml/2006/main">
            <a:r>
              <a:t>https://github.com/neringabateikiene/neringabateikiene/tree/main/projects/career-crm</a:t>
            </a:r>
          </a:p>
          <a:p xmlns:a="http://schemas.openxmlformats.org/drawingml/2006/main">
            <a:r>
              <a:t>https://github.com/neringabateikiene/neringabateikiene/tree/main/projects/nb-accounting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projects demonstrate how I understand a user problem, define the expected outcome, choose a useful change, work with AI coding tools and check the result. Each application provides a complete workflow, explicit rules and examples of how feedback changes the implementation. Both are personal applications under active development. They run locally or on a trusted network. The public portfolio presents selected workflows rather than an open production service.</a:t>
            </a:r>
          </a:p>
          <a:p xmlns:a="http://schemas.openxmlformats.org/drawingml/2006/main">
            <a:r>
              <a:t/>
            </a:r>
          </a:p>
          <a:p xmlns:a="http://schemas.openxmlformats.org/drawingml/2006/main">
            <a:r>
              <a:t>Sources</a:t>
            </a:r>
          </a:p>
          <a:p xmlns:a="http://schemas.openxmlformats.org/drawingml/2006/main">
            <a:r>
              <a:t>https://github.com/neringabateikiene/neringabateikiene/tree/main/projects/career-crm</a:t>
            </a:r>
          </a:p>
          <a:p xmlns:a="http://schemas.openxmlformats.org/drawingml/2006/main">
            <a:r>
              <a:t>https://github.com/neringabateikiene/neringabateikiene/tree/main/projects/nb-accounting</a:t>
            </a:r>
          </a:p>
          <a:p xmlns:a="http://schemas.openxmlformats.org/drawingml/2006/main">
            <a:r>
              <a:t>https://github.com/neringabateikiene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4c8aa63d7a46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4c8a080262430a" /><Relationship Type="http://schemas.openxmlformats.org/officeDocument/2006/relationships/slideLayout" Target="/ppt/slideLayouts/slideLayout1.xml" Id="Rdcdaf52ba40848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af52ba40848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ortfolio">
  <a:themeElements>
    <a:clrScheme name="Portfoli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52a0e014704459" /><Relationship Type="http://schemas.openxmlformats.org/officeDocument/2006/relationships/hyperlink" Target="https://github.com/neringabateikiene" TargetMode="External" Id="Re440bf1e904a4a9b" /><Relationship Type="http://schemas.openxmlformats.org/officeDocument/2006/relationships/notesSlide" Target="/ppt/notesSlides/notesSlide1.xml" Id="Rce7e048a881a48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cd00a0839d4d5b" /><Relationship Type="http://schemas.openxmlformats.org/officeDocument/2006/relationships/notesSlide" Target="/ppt/notesSlides/notesSlide2.xml" Id="Rdf3bb260f88f48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454f87134444e8" /><Relationship Type="http://schemas.openxmlformats.org/officeDocument/2006/relationships/notesSlide" Target="/ppt/notesSlides/notesSlide3.xml" Id="R63cd84ff9a9946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9ab088db884698" /><Relationship Type="http://schemas.openxmlformats.org/officeDocument/2006/relationships/notesSlide" Target="/ppt/notesSlides/notesSlide4.xml" Id="R66dfcf61d71c42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46b0cf23dd436c" /><Relationship Type="http://schemas.openxmlformats.org/officeDocument/2006/relationships/notesSlide" Target="/ppt/notesSlides/notesSlide5.xml" Id="R6a8e3f5e406b4d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7a6538eeec45d6" /><Relationship Type="http://schemas.openxmlformats.org/officeDocument/2006/relationships/notesSlide" Target="/ppt/notesSlides/notesSlide6.xml" Id="R233d2fa3c2934e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d3b5fbc5f94699" /><Relationship Type="http://schemas.openxmlformats.org/officeDocument/2006/relationships/hyperlink" Target="https://github.com/neringabateikiene" TargetMode="External" Id="R459a6f9ac55745dd" /><Relationship Type="http://schemas.openxmlformats.org/officeDocument/2006/relationships/notesSlide" Target="/ppt/notesSlides/notesSlide7.xml" Id="Re1d4dfd460ee4f92" /></Relationships>
</file>

<file path=ppt/slides/slide1.xml><?xml version="1.0" encoding="utf-8"?>
<p:sld xmlns:p="http://schemas.openxmlformats.org/presentationml/2006/main">
  <p:cSld>
    <p:bg>
      <p:bgPr>
        <a:solidFill xmlns:a="http://schemas.openxmlformats.org/drawingml/2006/main">
          <a:srgbClr val="315B5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9721A-5185-4156-9536-6ECD6B456E6F}"/>
              </a:ext>
            </a:extLst>
          </p:cNvPr>
          <p:cNvSpPr>
            <a:spLocks xmlns:a="http://schemas.openxmlformats.org/drawingml/2006/main" noGrp="1"/>
          </p:cNvSpPr>
          <p:nvPr/>
        </p:nvSpPr>
        <p:spPr>
          <a:xfrm xmlns:a="http://schemas.openxmlformats.org/drawingml/2006/main">
            <a:off x="685800" y="6477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6F3EC"/>
                </a:solidFill>
                <a:latin typeface="Arial"/>
                <a:ea typeface="Arial"/>
                <a:cs typeface="Arial"/>
              </a:defRPr>
            </a:pPr>
            <a:r>
              <a:rPr sz="2325" b="0">
                <a:solidFill>
                  <a:srgbClr val="F6F3EC"/>
                </a:solidFill>
                <a:latin typeface="Arial"/>
                <a:ea typeface="Arial"/>
                <a:cs typeface="Arial"/>
              </a:rPr>
              <a:t>Neringa Bateikienė</a:t>
            </a:r>
          </a:p>
        </p:txBody>
      </p:sp>
      <p:sp>
        <p:nvSpPr>
          <p:cNvPr id="2" name="">
            <a:extLst xmlns:a="http://schemas.openxmlformats.org/drawingml/2006/main">
              <a:ext uri="{FF2B5EF4-FFF2-40B4-BE49-F238E27FC236}">
                <a16:creationId xmlns:a16="http://schemas.microsoft.com/office/drawing/2014/main" id="{EF351658-2708-4F0D-9764-03ED6E39AD34}"/>
              </a:ext>
            </a:extLst>
          </p:cNvPr>
          <p:cNvSpPr>
            <a:spLocks xmlns:a="http://schemas.openxmlformats.org/drawingml/2006/main" noGrp="1"/>
          </p:cNvSpPr>
          <p:nvPr/>
        </p:nvSpPr>
        <p:spPr>
          <a:xfrm xmlns:a="http://schemas.openxmlformats.org/drawingml/2006/main">
            <a:off x="685800" y="1885950"/>
            <a:ext cx="1082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Personal product</a:t>
            </a:r>
          </a:p>
          <a:p xmlns:a="http://schemas.openxmlformats.org/drawingml/2006/main">
            <a:pPr>
              <a:defRPr sz="5100" b="1">
                <a:solidFill>
                  <a:srgbClr val="FFFFFF"/>
                </a:solidFill>
                <a:latin typeface="Arial"/>
                <a:ea typeface="Arial"/>
                <a:cs typeface="Arial"/>
              </a:defRPr>
            </a:pPr>
            <a:r>
              <a:rPr sz="5100" b="1">
                <a:solidFill>
                  <a:srgbClr val="FFFFFF"/>
                </a:solidFill>
                <a:latin typeface="Arial"/>
                <a:ea typeface="Arial"/>
                <a:cs typeface="Arial"/>
              </a:rPr>
              <a:t>portfolio</a:t>
            </a:r>
          </a:p>
        </p:txBody>
      </p:sp>
      <p:sp>
        <p:nvSpPr>
          <p:cNvPr id="3" name="">
            <a:extLst xmlns:a="http://schemas.openxmlformats.org/drawingml/2006/main">
              <a:ext uri="{FF2B5EF4-FFF2-40B4-BE49-F238E27FC236}">
                <a16:creationId xmlns:a16="http://schemas.microsoft.com/office/drawing/2014/main" id="{76E96DAC-90E6-40A1-83B9-87FC0C1E22F9}"/>
              </a:ext>
            </a:extLst>
          </p:cNvPr>
          <p:cNvSpPr>
            <a:spLocks xmlns:a="http://schemas.openxmlformats.org/drawingml/2006/main" noGrp="1"/>
          </p:cNvSpPr>
          <p:nvPr/>
        </p:nvSpPr>
        <p:spPr>
          <a:xfrm xmlns:a="http://schemas.openxmlformats.org/drawingml/2006/main">
            <a:off x="685800" y="4000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F6F3EC"/>
                </a:solidFill>
                <a:latin typeface="Arial"/>
                <a:ea typeface="Arial"/>
                <a:cs typeface="Arial"/>
              </a:defRPr>
            </a:pPr>
            <a:r>
              <a:rPr sz="2550" b="0">
                <a:solidFill>
                  <a:srgbClr val="F6F3EC"/>
                </a:solidFill>
                <a:latin typeface="Arial"/>
                <a:ea typeface="Arial"/>
                <a:cs typeface="Arial"/>
              </a:rPr>
              <a:t>Career CRM</a:t>
            </a:r>
          </a:p>
          <a:p xmlns:a="http://schemas.openxmlformats.org/drawingml/2006/main">
            <a:pPr>
              <a:defRPr sz="2550" b="0">
                <a:solidFill>
                  <a:srgbClr val="F6F3EC"/>
                </a:solidFill>
                <a:latin typeface="Arial"/>
                <a:ea typeface="Arial"/>
                <a:cs typeface="Arial"/>
              </a:defRPr>
            </a:pPr>
            <a:r>
              <a:rPr sz="2550" b="0">
                <a:solidFill>
                  <a:srgbClr val="F6F3EC"/>
                </a:solidFill>
                <a:latin typeface="Arial"/>
                <a:ea typeface="Arial"/>
                <a:cs typeface="Arial"/>
              </a:rPr>
              <a:t>NB Accounting</a:t>
            </a:r>
          </a:p>
        </p:txBody>
      </p:sp>
      <p:sp>
        <p:nvSpPr>
          <p:cNvPr id="4" name="">
            <a:extLst xmlns:a="http://schemas.openxmlformats.org/drawingml/2006/main">
              <a:ext uri="{FF2B5EF4-FFF2-40B4-BE49-F238E27FC236}">
                <a16:creationId xmlns:a16="http://schemas.microsoft.com/office/drawing/2014/main" id="{A269CBCF-365A-4FCE-9690-A13B341EC20D}"/>
              </a:ext>
            </a:extLst>
          </p:cNvPr>
          <p:cNvSpPr>
            <a:spLocks xmlns:a="http://schemas.openxmlformats.org/drawingml/2006/main" noGrp="1"/>
          </p:cNvSpPr>
          <p:nvPr/>
        </p:nvSpPr>
        <p:spPr>
          <a:xfrm xmlns:a="http://schemas.openxmlformats.org/drawingml/2006/main">
            <a:off x="685800" y="52768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6F3EC"/>
                </a:solidFill>
                <a:latin typeface="Arial"/>
                <a:ea typeface="Arial"/>
                <a:cs typeface="Arial"/>
              </a:defRPr>
            </a:pPr>
            <a:r>
              <a:rPr sz="1950" b="0">
                <a:solidFill>
                  <a:srgbClr val="F6F3EC"/>
                </a:solidFill>
                <a:latin typeface="Arial"/>
                <a:ea typeface="Arial"/>
                <a:cs typeface="Arial"/>
              </a:rPr>
              <a:t>Applications built with AI assistance</a:t>
            </a:r>
          </a:p>
        </p:txBody>
      </p:sp>
      <p:sp>
        <p:nvSpPr>
          <p:cNvPr id="5" name="">
            <a:extLst xmlns:a="http://schemas.openxmlformats.org/drawingml/2006/main">
              <a:ext uri="{FF2B5EF4-FFF2-40B4-BE49-F238E27FC236}">
                <a16:creationId xmlns:a16="http://schemas.microsoft.com/office/drawing/2014/main" id="{8F5AF9FA-7911-4AF3-93BD-1E09AF034B4A}"/>
              </a:ext>
            </a:extLst>
          </p:cNvPr>
          <p:cNvSpPr>
            <a:spLocks xmlns:a="http://schemas.openxmlformats.org/drawingml/2006/main" noGrp="1"/>
          </p:cNvSpPr>
          <p:nvPr/>
        </p:nvSpPr>
        <p:spPr>
          <a:xfrm xmlns:a="http://schemas.openxmlformats.org/drawingml/2006/main">
            <a:off x="685800" y="615315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F6F3EC"/>
                </a:solidFill>
                <a:latin typeface="Arial"/>
                <a:ea typeface="Arial"/>
                <a:cs typeface="Arial"/>
              </a:defRPr>
            </a:pPr>
            <a:r>
              <a:rPr sz="1500" b="0">
                <a:solidFill>
                  <a:srgbClr val="F6F3EC"/>
                </a:solidFill>
                <a:latin typeface="Arial"/>
                <a:ea typeface="Arial"/>
                <a:cs typeface="Arial"/>
                <a:hlinkClick xmlns:r="http://schemas.openxmlformats.org/officeDocument/2006/relationships" r:id="Re440bf1e904a4a9b"/>
              </a:rPr>
              <a:t>github.com/neringabateikiene</a:t>
            </a:r>
          </a:p>
        </p:txBody>
      </p:sp>
    </p:spTree>
    <p:extLst>
      <p:ext uri="{BB962C8B-B14F-4D97-AF65-F5344CB8AC3E}">
        <p14:creationId xmlns:p14="http://schemas.microsoft.com/office/powerpoint/2010/main" val="564909973"/>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06656E-3313-4872-A118-A921ED2679DB}"/>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Career CRM</a:t>
            </a:r>
          </a:p>
        </p:txBody>
      </p:sp>
      <p:sp>
        <p:nvSpPr>
          <p:cNvPr id="2" name="">
            <a:extLst xmlns:a="http://schemas.openxmlformats.org/drawingml/2006/main">
              <a:ext uri="{FF2B5EF4-FFF2-40B4-BE49-F238E27FC236}">
                <a16:creationId xmlns:a16="http://schemas.microsoft.com/office/drawing/2014/main" id="{0B40833B-9DBC-4628-BD4A-90939A890A23}"/>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F7E2E396-5DEC-4105-B5F0-2F182549BE6D}"/>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6F2C72F5-D99E-494C-936E-55D7C604E6F1}"/>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2464653-5ED8-46BD-BD18-86BC1626533F}"/>
              </a:ext>
            </a:extLst>
          </p:cNvPr>
          <p:cNvSpPr>
            <a:spLocks xmlns:a="http://schemas.openxmlformats.org/drawingml/2006/main" noGrp="1"/>
          </p:cNvSpPr>
          <p:nvPr/>
        </p:nvSpPr>
        <p:spPr>
          <a:xfrm xmlns:a="http://schemas.openxmlformats.org/drawingml/2006/main">
            <a:off x="685800" y="14001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15B50"/>
                </a:solidFill>
                <a:latin typeface="Arial"/>
                <a:ea typeface="Arial"/>
                <a:cs typeface="Arial"/>
              </a:defRPr>
            </a:pPr>
            <a:r>
              <a:rPr sz="2400" b="1">
                <a:solidFill>
                  <a:srgbClr val="315B50"/>
                </a:solidFill>
                <a:latin typeface="Arial"/>
                <a:ea typeface="Arial"/>
                <a:cs typeface="Arial"/>
              </a:rPr>
              <a:t>A personal job search workspace</a:t>
            </a:r>
          </a:p>
        </p:txBody>
      </p:sp>
      <p:sp>
        <p:nvSpPr>
          <p:cNvPr id="6" name="">
            <a:extLst xmlns:a="http://schemas.openxmlformats.org/drawingml/2006/main">
              <a:ext uri="{FF2B5EF4-FFF2-40B4-BE49-F238E27FC236}">
                <a16:creationId xmlns:a16="http://schemas.microsoft.com/office/drawing/2014/main" id="{E5D50445-EFED-4060-A400-4DD11D9A2090}"/>
              </a:ext>
            </a:extLst>
          </p:cNvPr>
          <p:cNvSpPr>
            <a:spLocks xmlns:a="http://schemas.openxmlformats.org/drawingml/2006/main" noGrp="1"/>
          </p:cNvSpPr>
          <p:nvPr/>
        </p:nvSpPr>
        <p:spPr>
          <a:xfrm xmlns:a="http://schemas.openxmlformats.org/drawingml/2006/main">
            <a:off x="685800" y="2009775"/>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13C33"/>
                </a:solidFill>
                <a:latin typeface="Arial"/>
                <a:ea typeface="Arial"/>
                <a:cs typeface="Arial"/>
              </a:defRPr>
            </a:pPr>
            <a:r>
              <a:rPr sz="2100" b="0">
                <a:solidFill>
                  <a:srgbClr val="213C33"/>
                </a:solidFill>
                <a:latin typeface="Arial"/>
                <a:ea typeface="Arial"/>
                <a:cs typeface="Arial"/>
              </a:rPr>
              <a:t>Job opportunities, applications and interview history</a:t>
            </a:r>
          </a:p>
          <a:p xmlns:a="http://schemas.openxmlformats.org/drawingml/2006/main">
            <a:pPr>
              <a:defRPr sz="2100" b="0">
                <a:solidFill>
                  <a:srgbClr val="213C33"/>
                </a:solidFill>
                <a:latin typeface="Arial"/>
                <a:ea typeface="Arial"/>
                <a:cs typeface="Arial"/>
              </a:defRPr>
            </a:pPr>
            <a:r>
              <a:rPr sz="2100" b="0">
                <a:solidFill>
                  <a:srgbClr val="213C33"/>
                </a:solidFill>
                <a:latin typeface="Arial"/>
                <a:ea typeface="Arial"/>
                <a:cs typeface="Arial"/>
              </a:rPr>
              <a:t>connected in one workflow.</a:t>
            </a:r>
          </a:p>
        </p:txBody>
      </p:sp>
      <p:sp>
        <p:nvSpPr>
          <p:cNvPr id="7" name="">
            <a:extLst xmlns:a="http://schemas.openxmlformats.org/drawingml/2006/main">
              <a:ext uri="{FF2B5EF4-FFF2-40B4-BE49-F238E27FC236}">
                <a16:creationId xmlns:a16="http://schemas.microsoft.com/office/drawing/2014/main" id="{7F2863B2-0F47-425E-A1F6-B3B011264B86}"/>
              </a:ext>
            </a:extLst>
          </p:cNvPr>
          <p:cNvSpPr>
            <a:spLocks xmlns:a="http://schemas.openxmlformats.org/drawingml/2006/main" noGrp="1"/>
          </p:cNvSpPr>
          <p:nvPr/>
        </p:nvSpPr>
        <p:spPr>
          <a:xfrm xmlns:a="http://schemas.openxmlformats.org/drawingml/2006/main">
            <a:off x="685800" y="3333750"/>
            <a:ext cx="2362200" cy="9715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Discover jobs</a:t>
            </a:r>
          </a:p>
        </p:txBody>
      </p:sp>
      <p:sp>
        <p:nvSpPr>
          <p:cNvPr id="8" name="">
            <a:extLst xmlns:a="http://schemas.openxmlformats.org/drawingml/2006/main">
              <a:ext uri="{FF2B5EF4-FFF2-40B4-BE49-F238E27FC236}">
                <a16:creationId xmlns:a16="http://schemas.microsoft.com/office/drawing/2014/main" id="{0D282D6F-71E2-454D-96FD-B64C12EAD178}"/>
              </a:ext>
            </a:extLst>
          </p:cNvPr>
          <p:cNvSpPr>
            <a:spLocks xmlns:a="http://schemas.openxmlformats.org/drawingml/2006/main" noGrp="1"/>
          </p:cNvSpPr>
          <p:nvPr/>
        </p:nvSpPr>
        <p:spPr>
          <a:xfrm xmlns:a="http://schemas.openxmlformats.org/drawingml/2006/main">
            <a:off x="3476625" y="3333750"/>
            <a:ext cx="2362200" cy="9715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Check and</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organise</a:t>
            </a:r>
          </a:p>
        </p:txBody>
      </p:sp>
      <p:sp>
        <p:nvSpPr>
          <p:cNvPr id="9" name="">
            <a:extLst xmlns:a="http://schemas.openxmlformats.org/drawingml/2006/main">
              <a:ext uri="{FF2B5EF4-FFF2-40B4-BE49-F238E27FC236}">
                <a16:creationId xmlns:a16="http://schemas.microsoft.com/office/drawing/2014/main" id="{9C2C912D-D127-4957-A72E-FD64FCE1FE69}"/>
              </a:ext>
            </a:extLst>
          </p:cNvPr>
          <p:cNvSpPr>
            <a:spLocks xmlns:a="http://schemas.openxmlformats.org/drawingml/2006/main" noGrp="1"/>
          </p:cNvSpPr>
          <p:nvPr/>
        </p:nvSpPr>
        <p:spPr>
          <a:xfrm xmlns:a="http://schemas.openxmlformats.org/drawingml/2006/main">
            <a:off x="6267450" y="3333750"/>
            <a:ext cx="2362200" cy="9715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Track the</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application</a:t>
            </a:r>
          </a:p>
        </p:txBody>
      </p:sp>
      <p:sp>
        <p:nvSpPr>
          <p:cNvPr id="10" name="">
            <a:extLst xmlns:a="http://schemas.openxmlformats.org/drawingml/2006/main">
              <a:ext uri="{FF2B5EF4-FFF2-40B4-BE49-F238E27FC236}">
                <a16:creationId xmlns:a16="http://schemas.microsoft.com/office/drawing/2014/main" id="{B8ABCCF6-D9ED-4E03-B416-757CA24B0D23}"/>
              </a:ext>
            </a:extLst>
          </p:cNvPr>
          <p:cNvSpPr>
            <a:spLocks xmlns:a="http://schemas.openxmlformats.org/drawingml/2006/main" noGrp="1"/>
          </p:cNvSpPr>
          <p:nvPr/>
        </p:nvSpPr>
        <p:spPr>
          <a:xfrm xmlns:a="http://schemas.openxmlformats.org/drawingml/2006/main">
            <a:off x="9058275" y="3333750"/>
            <a:ext cx="2447925" cy="9715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Record the</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outcome</a:t>
            </a:r>
          </a:p>
        </p:txBody>
      </p: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3048000" y="381952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5838825" y="381952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8629650" y="381952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sp>
        <p:nvSpPr>
          <p:cNvPr id="14" name="">
            <a:extLst xmlns:a="http://schemas.openxmlformats.org/drawingml/2006/main">
              <a:ext uri="{FF2B5EF4-FFF2-40B4-BE49-F238E27FC236}">
                <a16:creationId xmlns:a16="http://schemas.microsoft.com/office/drawing/2014/main" id="{CD1AD4F0-E374-4969-911C-943BE01F8239}"/>
              </a:ext>
            </a:extLst>
          </p:cNvPr>
          <p:cNvSpPr>
            <a:spLocks xmlns:a="http://schemas.openxmlformats.org/drawingml/2006/main" noGrp="1"/>
          </p:cNvSpPr>
          <p:nvPr/>
        </p:nvSpPr>
        <p:spPr>
          <a:xfrm xmlns:a="http://schemas.openxmlformats.org/drawingml/2006/main">
            <a:off x="685800" y="4533900"/>
            <a:ext cx="2362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AI search and</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Sheets imports</a:t>
            </a:r>
          </a:p>
        </p:txBody>
      </p:sp>
      <p:sp>
        <p:nvSpPr>
          <p:cNvPr id="15" name="">
            <a:extLst xmlns:a="http://schemas.openxmlformats.org/drawingml/2006/main">
              <a:ext uri="{FF2B5EF4-FFF2-40B4-BE49-F238E27FC236}">
                <a16:creationId xmlns:a16="http://schemas.microsoft.com/office/drawing/2014/main" id="{CD95FB2B-6C61-49DF-BC96-BF9579B68430}"/>
              </a:ext>
            </a:extLst>
          </p:cNvPr>
          <p:cNvSpPr>
            <a:spLocks xmlns:a="http://schemas.openxmlformats.org/drawingml/2006/main" noGrp="1"/>
          </p:cNvSpPr>
          <p:nvPr/>
        </p:nvSpPr>
        <p:spPr>
          <a:xfrm xmlns:a="http://schemas.openxmlformats.org/drawingml/2006/main">
            <a:off x="3476625" y="4533900"/>
            <a:ext cx="2362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Normalised URLs,</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duplicate checks</a:t>
            </a:r>
          </a:p>
        </p:txBody>
      </p:sp>
      <p:sp>
        <p:nvSpPr>
          <p:cNvPr id="16" name="">
            <a:extLst xmlns:a="http://schemas.openxmlformats.org/drawingml/2006/main">
              <a:ext uri="{FF2B5EF4-FFF2-40B4-BE49-F238E27FC236}">
                <a16:creationId xmlns:a16="http://schemas.microsoft.com/office/drawing/2014/main" id="{7E24A184-6479-4009-94BA-2FA713B6EB93}"/>
              </a:ext>
            </a:extLst>
          </p:cNvPr>
          <p:cNvSpPr>
            <a:spLocks xmlns:a="http://schemas.openxmlformats.org/drawingml/2006/main" noGrp="1"/>
          </p:cNvSpPr>
          <p:nvPr/>
        </p:nvSpPr>
        <p:spPr>
          <a:xfrm xmlns:a="http://schemas.openxmlformats.org/drawingml/2006/main">
            <a:off x="6267450" y="4533900"/>
            <a:ext cx="2362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Events, dates</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and status rules</a:t>
            </a:r>
          </a:p>
        </p:txBody>
      </p:sp>
      <p:sp>
        <p:nvSpPr>
          <p:cNvPr id="17" name="">
            <a:extLst xmlns:a="http://schemas.openxmlformats.org/drawingml/2006/main">
              <a:ext uri="{FF2B5EF4-FFF2-40B4-BE49-F238E27FC236}">
                <a16:creationId xmlns:a16="http://schemas.microsoft.com/office/drawing/2014/main" id="{3267CB3B-112A-4869-8C55-AD8AC596532E}"/>
              </a:ext>
            </a:extLst>
          </p:cNvPr>
          <p:cNvSpPr>
            <a:spLocks xmlns:a="http://schemas.openxmlformats.org/drawingml/2006/main" noGrp="1"/>
          </p:cNvSpPr>
          <p:nvPr/>
        </p:nvSpPr>
        <p:spPr>
          <a:xfrm xmlns:a="http://schemas.openxmlformats.org/drawingml/2006/main">
            <a:off x="9058275" y="4533900"/>
            <a:ext cx="244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 usable history</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for the next action</a:t>
            </a:r>
          </a:p>
        </p:txBody>
      </p:sp>
      <p:sp>
        <p:nvSpPr>
          <p:cNvPr id="18" name="">
            <a:extLst xmlns:a="http://schemas.openxmlformats.org/drawingml/2006/main">
              <a:ext uri="{FF2B5EF4-FFF2-40B4-BE49-F238E27FC236}">
                <a16:creationId xmlns:a16="http://schemas.microsoft.com/office/drawing/2014/main" id="{65860962-F923-4489-91D1-226B5F4AFC9D}"/>
              </a:ext>
            </a:extLst>
          </p:cNvPr>
          <p:cNvSpPr>
            <a:spLocks xmlns:a="http://schemas.openxmlformats.org/drawingml/2006/main" noGrp="1"/>
          </p:cNvSpPr>
          <p:nvPr/>
        </p:nvSpPr>
        <p:spPr>
          <a:xfrm xmlns:a="http://schemas.openxmlformats.org/drawingml/2006/main">
            <a:off x="685800" y="5762625"/>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4796E"/>
                </a:solidFill>
                <a:latin typeface="Arial"/>
                <a:ea typeface="Arial"/>
                <a:cs typeface="Arial"/>
              </a:defRPr>
            </a:pPr>
            <a:r>
              <a:rPr sz="1275" b="0">
                <a:solidFill>
                  <a:srgbClr val="64796E"/>
                </a:solidFill>
                <a:latin typeface="Arial"/>
                <a:ea typeface="Arial"/>
                <a:cs typeface="Arial"/>
              </a:rPr>
              <a:t>Workflow illustration</a:t>
            </a:r>
          </a:p>
        </p:txBody>
      </p:sp>
    </p:spTree>
    <p:extLst>
      <p:ext uri="{BB962C8B-B14F-4D97-AF65-F5344CB8AC3E}">
        <p14:creationId xmlns:p14="http://schemas.microsoft.com/office/powerpoint/2010/main" val="771133732"/>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69E6BDA-FC36-4257-A590-4000CC134946}"/>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Career CRM: a decision I can explain</a:t>
            </a:r>
          </a:p>
        </p:txBody>
      </p:sp>
      <p:sp>
        <p:nvSpPr>
          <p:cNvPr id="2" name="">
            <a:extLst xmlns:a="http://schemas.openxmlformats.org/drawingml/2006/main">
              <a:ext uri="{FF2B5EF4-FFF2-40B4-BE49-F238E27FC236}">
                <a16:creationId xmlns:a16="http://schemas.microsoft.com/office/drawing/2014/main" id="{E543B40E-7743-458C-802B-83B7FEDF0F9C}"/>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8D3022F7-234B-4C36-AE9F-FA108E8BA94E}"/>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66C4AC88-FB90-463F-96E8-49890F4C8EDE}"/>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FDD2B50-3A3D-4547-9425-ADE2BE3969B7}"/>
              </a:ext>
            </a:extLst>
          </p:cNvPr>
          <p:cNvSpPr>
            <a:spLocks xmlns:a="http://schemas.openxmlformats.org/drawingml/2006/main" noGrp="1"/>
          </p:cNvSpPr>
          <p:nvPr/>
        </p:nvSpPr>
        <p:spPr>
          <a:xfrm xmlns:a="http://schemas.openxmlformats.org/drawingml/2006/main">
            <a:off x="685800" y="14478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15B50"/>
                </a:solidFill>
                <a:latin typeface="Arial"/>
                <a:ea typeface="Arial"/>
                <a:cs typeface="Arial"/>
              </a:defRPr>
            </a:pPr>
            <a:r>
              <a:rPr sz="2400" b="1">
                <a:solidFill>
                  <a:srgbClr val="315B50"/>
                </a:solidFill>
                <a:latin typeface="Arial"/>
                <a:ea typeface="Arial"/>
                <a:cs typeface="Arial"/>
              </a:rPr>
              <a:t>AI proposes an event. I review it before it changes the record.</a:t>
            </a:r>
          </a:p>
        </p:txBody>
      </p:sp>
      <p:sp>
        <p:nvSpPr>
          <p:cNvPr id="6" name="">
            <a:extLst xmlns:a="http://schemas.openxmlformats.org/drawingml/2006/main">
              <a:ext uri="{FF2B5EF4-FFF2-40B4-BE49-F238E27FC236}">
                <a16:creationId xmlns:a16="http://schemas.microsoft.com/office/drawing/2014/main" id="{94906A28-A856-4E0E-93C6-434BF05EC517}"/>
              </a:ext>
            </a:extLst>
          </p:cNvPr>
          <p:cNvSpPr>
            <a:spLocks xmlns:a="http://schemas.openxmlformats.org/drawingml/2006/main" noGrp="1"/>
          </p:cNvSpPr>
          <p:nvPr/>
        </p:nvSpPr>
        <p:spPr>
          <a:xfrm xmlns:a="http://schemas.openxmlformats.org/drawingml/2006/main">
            <a:off x="685800" y="2924175"/>
            <a:ext cx="1771650" cy="1000125"/>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Email</a:t>
            </a:r>
          </a:p>
        </p:txBody>
      </p:sp>
      <p:sp>
        <p:nvSpPr>
          <p:cNvPr id="7" name="">
            <a:extLst xmlns:a="http://schemas.openxmlformats.org/drawingml/2006/main">
              <a:ext uri="{FF2B5EF4-FFF2-40B4-BE49-F238E27FC236}">
                <a16:creationId xmlns:a16="http://schemas.microsoft.com/office/drawing/2014/main" id="{949E4594-FF53-42B6-BD62-70569CF514CF}"/>
              </a:ext>
            </a:extLst>
          </p:cNvPr>
          <p:cNvSpPr>
            <a:spLocks xmlns:a="http://schemas.openxmlformats.org/drawingml/2006/main" noGrp="1"/>
          </p:cNvSpPr>
          <p:nvPr/>
        </p:nvSpPr>
        <p:spPr>
          <a:xfrm xmlns:a="http://schemas.openxmlformats.org/drawingml/2006/main">
            <a:off x="2914650" y="2924175"/>
            <a:ext cx="2114550" cy="1000125"/>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AI event</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proposal</a:t>
            </a:r>
          </a:p>
        </p:txBody>
      </p:sp>
      <p:sp>
        <p:nvSpPr>
          <p:cNvPr id="8" name="">
            <a:extLst xmlns:a="http://schemas.openxmlformats.org/drawingml/2006/main">
              <a:ext uri="{FF2B5EF4-FFF2-40B4-BE49-F238E27FC236}">
                <a16:creationId xmlns:a16="http://schemas.microsoft.com/office/drawing/2014/main" id="{E4CBB088-DEB0-4A7E-A25E-37A950484960}"/>
              </a:ext>
            </a:extLst>
          </p:cNvPr>
          <p:cNvSpPr>
            <a:spLocks xmlns:a="http://schemas.openxmlformats.org/drawingml/2006/main" noGrp="1"/>
          </p:cNvSpPr>
          <p:nvPr/>
        </p:nvSpPr>
        <p:spPr>
          <a:xfrm xmlns:a="http://schemas.openxmlformats.org/drawingml/2006/main">
            <a:off x="5486400" y="2924175"/>
            <a:ext cx="2362200" cy="1000125"/>
          </a:xfrm>
          <a:prstGeom xmlns:a="http://schemas.openxmlformats.org/drawingml/2006/main" prst="rect">
            <a:avLst/>
          </a:prstGeom>
          <a:solidFill xmlns:a="http://schemas.openxmlformats.org/drawingml/2006/main">
            <a:srgbClr val="315B50"/>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Review and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edit</a:t>
            </a:r>
          </a:p>
        </p:txBody>
      </p:sp>
      <p:sp>
        <p:nvSpPr>
          <p:cNvPr id="9" name="">
            <a:extLst xmlns:a="http://schemas.openxmlformats.org/drawingml/2006/main">
              <a:ext uri="{FF2B5EF4-FFF2-40B4-BE49-F238E27FC236}">
                <a16:creationId xmlns:a16="http://schemas.microsoft.com/office/drawing/2014/main" id="{088686CC-7995-4D29-A024-B544038540F2}"/>
              </a:ext>
            </a:extLst>
          </p:cNvPr>
          <p:cNvSpPr>
            <a:spLocks xmlns:a="http://schemas.openxmlformats.org/drawingml/2006/main" noGrp="1"/>
          </p:cNvSpPr>
          <p:nvPr/>
        </p:nvSpPr>
        <p:spPr>
          <a:xfrm xmlns:a="http://schemas.openxmlformats.org/drawingml/2006/main">
            <a:off x="8305800" y="2924175"/>
            <a:ext cx="3200400" cy="1000125"/>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Validate and</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save</a:t>
            </a:r>
          </a:p>
        </p:txBody>
      </p: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2457450" y="3424238"/>
            <a:ext cx="457200"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5029200" y="3424238"/>
            <a:ext cx="457200"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7848600" y="3424238"/>
            <a:ext cx="457200" cy="0"/>
          </a:xfrm>
          <a:prstGeom xmlns:a="http://schemas.openxmlformats.org/drawingml/2006/main" prst="straightConnector1">
            <a:avLst/>
          </a:prstGeom>
          <a:ln xmlns:a="http://schemas.openxmlformats.org/drawingml/2006/main" w="19050">
            <a:solidFill>
              <a:srgbClr val="315B50"/>
            </a:solidFill>
            <a:tailEnd type="triangle" w="sm" len="sm"/>
          </a:ln>
        </p:spPr>
      </p:cxnSp>
      <p:sp>
        <p:nvSpPr>
          <p:cNvPr id="13" name="">
            <a:extLst xmlns:a="http://schemas.openxmlformats.org/drawingml/2006/main">
              <a:ext uri="{FF2B5EF4-FFF2-40B4-BE49-F238E27FC236}">
                <a16:creationId xmlns:a16="http://schemas.microsoft.com/office/drawing/2014/main" id="{72F7F0EF-7882-440E-B9BC-5D60E0645F2F}"/>
              </a:ext>
            </a:extLst>
          </p:cNvPr>
          <p:cNvSpPr>
            <a:spLocks xmlns:a="http://schemas.openxmlformats.org/drawingml/2006/main" noGrp="1"/>
          </p:cNvSpPr>
          <p:nvPr/>
        </p:nvSpPr>
        <p:spPr>
          <a:xfrm xmlns:a="http://schemas.openxmlformats.org/drawingml/2006/main">
            <a:off x="5486400" y="4438650"/>
            <a:ext cx="2362200" cy="657225"/>
          </a:xfrm>
          <a:prstGeom xmlns:a="http://schemas.openxmlformats.org/drawingml/2006/main" prst="rect">
            <a:avLst/>
          </a:prstGeom>
          <a:solidFill xmlns:a="http://schemas.openxmlformats.org/drawingml/2006/main">
            <a:srgbClr val="F6F3EC"/>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64796E"/>
                </a:solidFill>
                <a:latin typeface="Arial"/>
                <a:ea typeface="Arial"/>
                <a:cs typeface="Arial"/>
              </a:defRPr>
            </a:pPr>
            <a:r>
              <a:rPr sz="2025" b="1">
                <a:solidFill>
                  <a:srgbClr val="64796E"/>
                </a:solidFill>
                <a:latin typeface="Arial"/>
                <a:ea typeface="Arial"/>
                <a:cs typeface="Arial"/>
              </a:rPr>
              <a:t>Reject proposal</a:t>
            </a:r>
          </a:p>
        </p:txBody>
      </p:sp>
      <p:cxnSp>
        <p:nvCxnSpPr>
          <p:cNvPr id="33" name=""/>
          <p:cNvCxnSpPr>
            <a:stCxn xmlns:a="http://schemas.openxmlformats.org/drawingml/2006/main" id="8" idx="2"/>
            <a:endCxn xmlns:a="http://schemas.openxmlformats.org/drawingml/2006/main" id="13" idx="0"/>
          </p:cNvCxnSpPr>
          <p:nvPr/>
        </p:nvCxnSpPr>
        <p:spPr>
          <a:xfrm xmlns:a="http://schemas.openxmlformats.org/drawingml/2006/main">
            <a:off x="6667500" y="3924300"/>
            <a:ext cx="0" cy="514350"/>
          </a:xfrm>
          <a:prstGeom xmlns:a="http://schemas.openxmlformats.org/drawingml/2006/main" prst="straightConnector1">
            <a:avLst/>
          </a:prstGeom>
          <a:ln xmlns:a="http://schemas.openxmlformats.org/drawingml/2006/main" w="19050">
            <a:solidFill>
              <a:srgbClr val="64796E"/>
            </a:solidFill>
            <a:tailEnd type="triangle" w="sm" len="sm"/>
          </a:ln>
        </p:spPr>
      </p:cxnSp>
      <p:sp>
        <p:nvSpPr>
          <p:cNvPr id="15" name="">
            <a:extLst xmlns:a="http://schemas.openxmlformats.org/drawingml/2006/main">
              <a:ext uri="{FF2B5EF4-FFF2-40B4-BE49-F238E27FC236}">
                <a16:creationId xmlns:a16="http://schemas.microsoft.com/office/drawing/2014/main" id="{9637795D-6C11-47A2-9E82-632DBB4B13C5}"/>
              </a:ext>
            </a:extLst>
          </p:cNvPr>
          <p:cNvSpPr>
            <a:spLocks xmlns:a="http://schemas.openxmlformats.org/drawingml/2006/main" noGrp="1"/>
          </p:cNvSpPr>
          <p:nvPr/>
        </p:nvSpPr>
        <p:spPr>
          <a:xfrm xmlns:a="http://schemas.openxmlformats.org/drawingml/2006/main">
            <a:off x="685800" y="4448175"/>
            <a:ext cx="3790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15B50"/>
                </a:solidFill>
                <a:latin typeface="Arial"/>
                <a:ea typeface="Arial"/>
                <a:cs typeface="Arial"/>
              </a:defRPr>
            </a:pPr>
            <a:r>
              <a:rPr sz="1950" b="1">
                <a:solidFill>
                  <a:srgbClr val="315B50"/>
                </a:solidFill>
                <a:latin typeface="Arial"/>
                <a:ea typeface="Arial"/>
                <a:cs typeface="Arial"/>
              </a:rPr>
              <a:t>Why it matters</a:t>
            </a:r>
          </a:p>
        </p:txBody>
      </p:sp>
      <p:sp>
        <p:nvSpPr>
          <p:cNvPr id="16" name="">
            <a:extLst xmlns:a="http://schemas.openxmlformats.org/drawingml/2006/main">
              <a:ext uri="{FF2B5EF4-FFF2-40B4-BE49-F238E27FC236}">
                <a16:creationId xmlns:a16="http://schemas.microsoft.com/office/drawing/2014/main" id="{5D7F839C-E4F0-48C2-A763-3977E564A72B}"/>
              </a:ext>
            </a:extLst>
          </p:cNvPr>
          <p:cNvSpPr>
            <a:spLocks xmlns:a="http://schemas.openxmlformats.org/drawingml/2006/main" noGrp="1"/>
          </p:cNvSpPr>
          <p:nvPr/>
        </p:nvSpPr>
        <p:spPr>
          <a:xfrm xmlns:a="http://schemas.openxmlformats.org/drawingml/2006/main">
            <a:off x="685800" y="490537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13C33"/>
                </a:solidFill>
                <a:latin typeface="Arial"/>
                <a:ea typeface="Arial"/>
                <a:cs typeface="Arial"/>
              </a:defRPr>
            </a:pPr>
            <a:r>
              <a:rPr sz="1800" b="0">
                <a:solidFill>
                  <a:srgbClr val="213C33"/>
                </a:solidFill>
                <a:latin typeface="Arial"/>
                <a:ea typeface="Arial"/>
                <a:cs typeface="Arial"/>
              </a:rPr>
              <a:t>A suggested interpretation should</a:t>
            </a:r>
          </a:p>
          <a:p xmlns:a="http://schemas.openxmlformats.org/drawingml/2006/main">
            <a:pPr>
              <a:defRPr sz="1800" b="0">
                <a:solidFill>
                  <a:srgbClr val="213C33"/>
                </a:solidFill>
                <a:latin typeface="Arial"/>
                <a:ea typeface="Arial"/>
                <a:cs typeface="Arial"/>
              </a:defRPr>
            </a:pPr>
            <a:r>
              <a:rPr sz="1800" b="0">
                <a:solidFill>
                  <a:srgbClr val="213C33"/>
                </a:solidFill>
                <a:latin typeface="Arial"/>
                <a:ea typeface="Arial"/>
                <a:cs typeface="Arial"/>
              </a:rPr>
              <a:t>not silently alter the application history.</a:t>
            </a:r>
          </a:p>
        </p:txBody>
      </p:sp>
      <p:sp>
        <p:nvSpPr>
          <p:cNvPr id="17" name="">
            <a:extLst xmlns:a="http://schemas.openxmlformats.org/drawingml/2006/main">
              <a:ext uri="{FF2B5EF4-FFF2-40B4-BE49-F238E27FC236}">
                <a16:creationId xmlns:a16="http://schemas.microsoft.com/office/drawing/2014/main" id="{A7DD5419-2F04-451F-B27C-B7761B3DA52E}"/>
              </a:ext>
            </a:extLst>
          </p:cNvPr>
          <p:cNvSpPr>
            <a:spLocks xmlns:a="http://schemas.openxmlformats.org/drawingml/2006/main" noGrp="1"/>
          </p:cNvSpPr>
          <p:nvPr/>
        </p:nvSpPr>
        <p:spPr>
          <a:xfrm xmlns:a="http://schemas.openxmlformats.org/drawingml/2006/main">
            <a:off x="8305800" y="4448175"/>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15B50"/>
                </a:solidFill>
                <a:latin typeface="Arial"/>
                <a:ea typeface="Arial"/>
                <a:cs typeface="Arial"/>
              </a:defRPr>
            </a:pPr>
            <a:r>
              <a:rPr sz="1950" b="1">
                <a:solidFill>
                  <a:srgbClr val="315B50"/>
                </a:solidFill>
                <a:latin typeface="Arial"/>
                <a:ea typeface="Arial"/>
                <a:cs typeface="Arial"/>
              </a:rPr>
              <a:t>Acceptance example</a:t>
            </a:r>
          </a:p>
        </p:txBody>
      </p:sp>
      <p:sp>
        <p:nvSpPr>
          <p:cNvPr id="18" name="">
            <a:extLst xmlns:a="http://schemas.openxmlformats.org/drawingml/2006/main">
              <a:ext uri="{FF2B5EF4-FFF2-40B4-BE49-F238E27FC236}">
                <a16:creationId xmlns:a16="http://schemas.microsoft.com/office/drawing/2014/main" id="{2A8BF417-8C8E-42A0-A885-649C292215F2}"/>
              </a:ext>
            </a:extLst>
          </p:cNvPr>
          <p:cNvSpPr>
            <a:spLocks xmlns:a="http://schemas.openxmlformats.org/drawingml/2006/main" noGrp="1"/>
          </p:cNvSpPr>
          <p:nvPr/>
        </p:nvSpPr>
        <p:spPr>
          <a:xfrm xmlns:a="http://schemas.openxmlformats.org/drawingml/2006/main">
            <a:off x="8305800" y="4895850"/>
            <a:ext cx="320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13C33"/>
                </a:solidFill>
                <a:latin typeface="Arial"/>
                <a:ea typeface="Arial"/>
                <a:cs typeface="Arial"/>
              </a:defRPr>
            </a:pPr>
            <a:r>
              <a:rPr sz="1800" b="0">
                <a:solidFill>
                  <a:srgbClr val="213C33"/>
                </a:solidFill>
                <a:latin typeface="Arial"/>
                <a:ea typeface="Arial"/>
                <a:cs typeface="Arial"/>
              </a:rPr>
              <a:t>The event must follow</a:t>
            </a:r>
          </a:p>
          <a:p xmlns:a="http://schemas.openxmlformats.org/drawingml/2006/main">
            <a:pPr>
              <a:defRPr sz="1800" b="0">
                <a:solidFill>
                  <a:srgbClr val="213C33"/>
                </a:solidFill>
                <a:latin typeface="Arial"/>
                <a:ea typeface="Arial"/>
                <a:cs typeface="Arial"/>
              </a:defRPr>
            </a:pPr>
            <a:r>
              <a:rPr sz="1800" b="0">
                <a:solidFill>
                  <a:srgbClr val="213C33"/>
                </a:solidFill>
                <a:latin typeface="Arial"/>
                <a:ea typeface="Arial"/>
                <a:cs typeface="Arial"/>
              </a:rPr>
              <a:t>the application’s state</a:t>
            </a:r>
          </a:p>
          <a:p xmlns:a="http://schemas.openxmlformats.org/drawingml/2006/main">
            <a:pPr>
              <a:defRPr sz="1800" b="0">
                <a:solidFill>
                  <a:srgbClr val="213C33"/>
                </a:solidFill>
                <a:latin typeface="Arial"/>
                <a:ea typeface="Arial"/>
                <a:cs typeface="Arial"/>
              </a:defRPr>
            </a:pPr>
            <a:r>
              <a:rPr sz="1800" b="0">
                <a:solidFill>
                  <a:srgbClr val="213C33"/>
                </a:solidFill>
                <a:latin typeface="Arial"/>
                <a:ea typeface="Arial"/>
                <a:cs typeface="Arial"/>
              </a:rPr>
              <a:t>and sequence rules.</a:t>
            </a:r>
          </a:p>
        </p:txBody>
      </p:sp>
      <p:sp>
        <p:nvSpPr>
          <p:cNvPr id="19" name="">
            <a:extLst xmlns:a="http://schemas.openxmlformats.org/drawingml/2006/main">
              <a:ext uri="{FF2B5EF4-FFF2-40B4-BE49-F238E27FC236}">
                <a16:creationId xmlns:a16="http://schemas.microsoft.com/office/drawing/2014/main" id="{3BE964D5-3DEF-4307-94A0-417F3341A298}"/>
              </a:ext>
            </a:extLst>
          </p:cNvPr>
          <p:cNvSpPr>
            <a:spLocks xmlns:a="http://schemas.openxmlformats.org/drawingml/2006/main" noGrp="1"/>
          </p:cNvSpPr>
          <p:nvPr/>
        </p:nvSpPr>
        <p:spPr>
          <a:xfrm xmlns:a="http://schemas.openxmlformats.org/drawingml/2006/main">
            <a:off x="5486400" y="55816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4796E"/>
                </a:solidFill>
                <a:latin typeface="Arial"/>
                <a:ea typeface="Arial"/>
                <a:cs typeface="Arial"/>
              </a:defRPr>
            </a:pPr>
            <a:r>
              <a:rPr sz="1275" b="0">
                <a:solidFill>
                  <a:srgbClr val="64796E"/>
                </a:solidFill>
                <a:latin typeface="Arial"/>
                <a:ea typeface="Arial"/>
                <a:cs typeface="Arial"/>
              </a:rPr>
              <a:t>Workflow illustration</a:t>
            </a:r>
          </a:p>
        </p:txBody>
      </p:sp>
    </p:spTree>
    <p:extLst>
      <p:ext uri="{BB962C8B-B14F-4D97-AF65-F5344CB8AC3E}">
        <p14:creationId xmlns:p14="http://schemas.microsoft.com/office/powerpoint/2010/main" val="83292069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470E97-0F52-49CD-8DA0-4CF420617BD5}"/>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NB Accounting</a:t>
            </a:r>
          </a:p>
        </p:txBody>
      </p:sp>
      <p:sp>
        <p:nvSpPr>
          <p:cNvPr id="2" name="">
            <a:extLst xmlns:a="http://schemas.openxmlformats.org/drawingml/2006/main">
              <a:ext uri="{FF2B5EF4-FFF2-40B4-BE49-F238E27FC236}">
                <a16:creationId xmlns:a16="http://schemas.microsoft.com/office/drawing/2014/main" id="{6F5C7248-6931-4FAA-B0FC-23972CA83D33}"/>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307EE953-98D0-4E14-BBD6-4944469DCFE4}"/>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BBA8C820-BFE7-46DA-B42D-417765A2CCC8}"/>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A0CE5C8-1D1B-449C-9E5E-AA034FA50F67}"/>
              </a:ext>
            </a:extLst>
          </p:cNvPr>
          <p:cNvSpPr>
            <a:spLocks xmlns:a="http://schemas.openxmlformats.org/drawingml/2006/main" noGrp="1"/>
          </p:cNvSpPr>
          <p:nvPr/>
        </p:nvSpPr>
        <p:spPr>
          <a:xfrm xmlns:a="http://schemas.openxmlformats.org/drawingml/2006/main">
            <a:off x="685800" y="14192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15B50"/>
                </a:solidFill>
                <a:latin typeface="Arial"/>
                <a:ea typeface="Arial"/>
                <a:cs typeface="Arial"/>
              </a:defRPr>
            </a:pPr>
            <a:r>
              <a:rPr sz="2400" b="1">
                <a:solidFill>
                  <a:srgbClr val="315B50"/>
                </a:solidFill>
                <a:latin typeface="Arial"/>
                <a:ea typeface="Arial"/>
                <a:cs typeface="Arial"/>
              </a:rPr>
              <a:t>Bookkeeping across multiple entities and data sources</a:t>
            </a:r>
          </a:p>
        </p:txBody>
      </p:sp>
      <p:sp>
        <p:nvSpPr>
          <p:cNvPr id="6" name="">
            <a:extLst xmlns:a="http://schemas.openxmlformats.org/drawingml/2006/main">
              <a:ext uri="{FF2B5EF4-FFF2-40B4-BE49-F238E27FC236}">
                <a16:creationId xmlns:a16="http://schemas.microsoft.com/office/drawing/2014/main" id="{B6D93687-D628-4D42-A8F1-158DC3AF4949}"/>
              </a:ext>
            </a:extLst>
          </p:cNvPr>
          <p:cNvSpPr>
            <a:spLocks xmlns:a="http://schemas.openxmlformats.org/drawingml/2006/main" noGrp="1"/>
          </p:cNvSpPr>
          <p:nvPr/>
        </p:nvSpPr>
        <p:spPr>
          <a:xfrm xmlns:a="http://schemas.openxmlformats.org/drawingml/2006/main">
            <a:off x="685800" y="22860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13C33"/>
                </a:solidFill>
                <a:latin typeface="Arial"/>
                <a:ea typeface="Arial"/>
                <a:cs typeface="Arial"/>
              </a:defRPr>
            </a:pPr>
            <a:r>
              <a:rPr sz="2100" b="0">
                <a:solidFill>
                  <a:srgbClr val="213C33"/>
                </a:solidFill>
                <a:latin typeface="Arial"/>
                <a:ea typeface="Arial"/>
                <a:cs typeface="Arial"/>
              </a:rPr>
              <a:t>Sales, purchases, journal entries and bank operations</a:t>
            </a:r>
          </a:p>
          <a:p xmlns:a="http://schemas.openxmlformats.org/drawingml/2006/main">
            <a:pPr>
              <a:defRPr sz="2100" b="0">
                <a:solidFill>
                  <a:srgbClr val="213C33"/>
                </a:solidFill>
                <a:latin typeface="Arial"/>
                <a:ea typeface="Arial"/>
                <a:cs typeface="Arial"/>
              </a:defRPr>
            </a:pPr>
            <a:r>
              <a:rPr sz="2100" b="0">
                <a:solidFill>
                  <a:srgbClr val="213C33"/>
                </a:solidFill>
                <a:latin typeface="Arial"/>
                <a:ea typeface="Arial"/>
                <a:cs typeface="Arial"/>
              </a:rPr>
              <a:t>with explicit review and posting steps.</a:t>
            </a:r>
          </a:p>
        </p:txBody>
      </p:sp>
      <p:sp>
        <p:nvSpPr>
          <p:cNvPr id="7" name="">
            <a:extLst xmlns:a="http://schemas.openxmlformats.org/drawingml/2006/main">
              <a:ext uri="{FF2B5EF4-FFF2-40B4-BE49-F238E27FC236}">
                <a16:creationId xmlns:a16="http://schemas.microsoft.com/office/drawing/2014/main" id="{7471F11F-9750-4B30-B555-7ACE49BBDE81}"/>
              </a:ext>
            </a:extLst>
          </p:cNvPr>
          <p:cNvSpPr>
            <a:spLocks xmlns:a="http://schemas.openxmlformats.org/drawingml/2006/main" noGrp="1"/>
          </p:cNvSpPr>
          <p:nvPr/>
        </p:nvSpPr>
        <p:spPr>
          <a:xfrm xmlns:a="http://schemas.openxmlformats.org/drawingml/2006/main">
            <a:off x="685800" y="3524250"/>
            <a:ext cx="2362200" cy="10096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Import</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staging</a:t>
            </a:r>
          </a:p>
        </p:txBody>
      </p:sp>
      <p:sp>
        <p:nvSpPr>
          <p:cNvPr id="8" name="">
            <a:extLst xmlns:a="http://schemas.openxmlformats.org/drawingml/2006/main">
              <a:ext uri="{FF2B5EF4-FFF2-40B4-BE49-F238E27FC236}">
                <a16:creationId xmlns:a16="http://schemas.microsoft.com/office/drawing/2014/main" id="{7341BD93-0E10-4080-810A-6BD96EC8F616}"/>
              </a:ext>
            </a:extLst>
          </p:cNvPr>
          <p:cNvSpPr>
            <a:spLocks xmlns:a="http://schemas.openxmlformats.org/drawingml/2006/main" noGrp="1"/>
          </p:cNvSpPr>
          <p:nvPr/>
        </p:nvSpPr>
        <p:spPr>
          <a:xfrm xmlns:a="http://schemas.openxmlformats.org/drawingml/2006/main">
            <a:off x="3476625" y="3524250"/>
            <a:ext cx="2362200" cy="10096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Review the</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draft</a:t>
            </a:r>
          </a:p>
        </p:txBody>
      </p:sp>
      <p:sp>
        <p:nvSpPr>
          <p:cNvPr id="9" name="">
            <a:extLst xmlns:a="http://schemas.openxmlformats.org/drawingml/2006/main">
              <a:ext uri="{FF2B5EF4-FFF2-40B4-BE49-F238E27FC236}">
                <a16:creationId xmlns:a16="http://schemas.microsoft.com/office/drawing/2014/main" id="{77A1AE5D-8A36-493A-B931-02E3393DCAF2}"/>
              </a:ext>
            </a:extLst>
          </p:cNvPr>
          <p:cNvSpPr>
            <a:spLocks xmlns:a="http://schemas.openxmlformats.org/drawingml/2006/main" noGrp="1"/>
          </p:cNvSpPr>
          <p:nvPr/>
        </p:nvSpPr>
        <p:spPr>
          <a:xfrm xmlns:a="http://schemas.openxmlformats.org/drawingml/2006/main">
            <a:off x="6267450" y="3524250"/>
            <a:ext cx="2362200" cy="1009650"/>
          </a:xfrm>
          <a:prstGeom xmlns:a="http://schemas.openxmlformats.org/drawingml/2006/main" prst="rect">
            <a:avLst/>
          </a:prstGeom>
          <a:solidFill xmlns:a="http://schemas.openxmlformats.org/drawingml/2006/main">
            <a:srgbClr val="315B50"/>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Post the</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document</a:t>
            </a:r>
          </a:p>
        </p:txBody>
      </p:sp>
      <p:sp>
        <p:nvSpPr>
          <p:cNvPr id="10" name="">
            <a:extLst xmlns:a="http://schemas.openxmlformats.org/drawingml/2006/main">
              <a:ext uri="{FF2B5EF4-FFF2-40B4-BE49-F238E27FC236}">
                <a16:creationId xmlns:a16="http://schemas.microsoft.com/office/drawing/2014/main" id="{6CEAF394-BAE2-495C-9E10-B2C521238926}"/>
              </a:ext>
            </a:extLst>
          </p:cNvPr>
          <p:cNvSpPr>
            <a:spLocks xmlns:a="http://schemas.openxmlformats.org/drawingml/2006/main" noGrp="1"/>
          </p:cNvSpPr>
          <p:nvPr/>
        </p:nvSpPr>
        <p:spPr>
          <a:xfrm xmlns:a="http://schemas.openxmlformats.org/drawingml/2006/main">
            <a:off x="9058275" y="3524250"/>
            <a:ext cx="2447925" cy="1009650"/>
          </a:xfrm>
          <a:prstGeom xmlns:a="http://schemas.openxmlformats.org/drawingml/2006/main" prst="rect">
            <a:avLst/>
          </a:prstGeom>
          <a:solidFill xmlns:a="http://schemas.openxmlformats.org/drawingml/2006/main">
            <a:srgbClr val="E6ECE5"/>
          </a:solidFill>
          <a:ln xmlns:a="http://schemas.openxmlformats.org/drawingml/2006/main" w="9525">
            <a:solidFill>
              <a:srgbClr val="C8D3CA"/>
            </a:solidFill>
          </a:ln>
        </p:spPr>
        <p:txBody>
          <a:bodyPr xmlns:a="http://schemas.openxmlformats.org/drawingml/2006/main" lIns="114300" tIns="133350" rIns="114300" bIns="133350" anchor="ctr">
            <a:noAutofit/>
          </a:bodyPr>
          <a:lstStyle xmlns:a="http://schemas.openxmlformats.org/drawingml/2006/main"/>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Ledger and</a:t>
            </a:r>
          </a:p>
          <a:p xmlns:a="http://schemas.openxmlformats.org/drawingml/2006/main">
            <a:pPr algn="ctr">
              <a:defRPr sz="2025" b="1">
                <a:solidFill>
                  <a:srgbClr val="213C33"/>
                </a:solidFill>
                <a:latin typeface="Arial"/>
                <a:ea typeface="Arial"/>
                <a:cs typeface="Arial"/>
              </a:defRPr>
            </a:pPr>
            <a:r>
              <a:rPr sz="2025" b="1">
                <a:solidFill>
                  <a:srgbClr val="213C33"/>
                </a:solidFill>
                <a:latin typeface="Arial"/>
                <a:ea typeface="Arial"/>
                <a:cs typeface="Arial"/>
              </a:rPr>
              <a:t>reports</a:t>
            </a:r>
          </a:p>
        </p:txBody>
      </p: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3048000" y="402907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5838825" y="402907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8629650" y="4029075"/>
            <a:ext cx="428625" cy="0"/>
          </a:xfrm>
          <a:prstGeom xmlns:a="http://schemas.openxmlformats.org/drawingml/2006/main" prst="straightConnector1">
            <a:avLst/>
          </a:prstGeom>
          <a:ln xmlns:a="http://schemas.openxmlformats.org/drawingml/2006/main" w="19050">
            <a:solidFill>
              <a:srgbClr val="315B50"/>
            </a:solidFill>
            <a:tailEnd type="triangle" w="sm" len="sm"/>
          </a:ln>
        </p:spPr>
      </p:cxnSp>
      <p:sp>
        <p:nvSpPr>
          <p:cNvPr id="14" name="">
            <a:extLst xmlns:a="http://schemas.openxmlformats.org/drawingml/2006/main">
              <a:ext uri="{FF2B5EF4-FFF2-40B4-BE49-F238E27FC236}">
                <a16:creationId xmlns:a16="http://schemas.microsoft.com/office/drawing/2014/main" id="{7AE2762B-6D0B-4D0E-8930-3F22F7B57F3E}"/>
              </a:ext>
            </a:extLst>
          </p:cNvPr>
          <p:cNvSpPr>
            <a:spLocks xmlns:a="http://schemas.openxmlformats.org/drawingml/2006/main" noGrp="1"/>
          </p:cNvSpPr>
          <p:nvPr/>
        </p:nvSpPr>
        <p:spPr>
          <a:xfrm xmlns:a="http://schemas.openxmlformats.org/drawingml/2006/main">
            <a:off x="685800" y="4733925"/>
            <a:ext cx="2362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Marketplace data</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stays separate first</a:t>
            </a:r>
          </a:p>
        </p:txBody>
      </p:sp>
      <p:sp>
        <p:nvSpPr>
          <p:cNvPr id="15" name="">
            <a:extLst xmlns:a="http://schemas.openxmlformats.org/drawingml/2006/main">
              <a:ext uri="{FF2B5EF4-FFF2-40B4-BE49-F238E27FC236}">
                <a16:creationId xmlns:a16="http://schemas.microsoft.com/office/drawing/2014/main" id="{5ED1CC3E-82AB-4E76-9F72-46F4B02718D9}"/>
              </a:ext>
            </a:extLst>
          </p:cNvPr>
          <p:cNvSpPr>
            <a:spLocks xmlns:a="http://schemas.openxmlformats.org/drawingml/2006/main" noGrp="1"/>
          </p:cNvSpPr>
          <p:nvPr/>
        </p:nvSpPr>
        <p:spPr>
          <a:xfrm xmlns:a="http://schemas.openxmlformats.org/drawingml/2006/main">
            <a:off x="3476625" y="4733925"/>
            <a:ext cx="2362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Check mappings</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and document details</a:t>
            </a:r>
          </a:p>
        </p:txBody>
      </p:sp>
      <p:sp>
        <p:nvSpPr>
          <p:cNvPr id="16" name="">
            <a:extLst xmlns:a="http://schemas.openxmlformats.org/drawingml/2006/main">
              <a:ext uri="{FF2B5EF4-FFF2-40B4-BE49-F238E27FC236}">
                <a16:creationId xmlns:a16="http://schemas.microsoft.com/office/drawing/2014/main" id="{AE139AA1-4552-4971-8A7B-D4BE69A0E30F}"/>
              </a:ext>
            </a:extLst>
          </p:cNvPr>
          <p:cNvSpPr>
            <a:spLocks xmlns:a="http://schemas.openxmlformats.org/drawingml/2006/main" noGrp="1"/>
          </p:cNvSpPr>
          <p:nvPr/>
        </p:nvSpPr>
        <p:spPr>
          <a:xfrm xmlns:a="http://schemas.openxmlformats.org/drawingml/2006/main">
            <a:off x="6267450" y="4733925"/>
            <a:ext cx="2362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Apply accounting</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and period rules</a:t>
            </a:r>
          </a:p>
        </p:txBody>
      </p:sp>
      <p:sp>
        <p:nvSpPr>
          <p:cNvPr id="17" name="">
            <a:extLst xmlns:a="http://schemas.openxmlformats.org/drawingml/2006/main">
              <a:ext uri="{FF2B5EF4-FFF2-40B4-BE49-F238E27FC236}">
                <a16:creationId xmlns:a16="http://schemas.microsoft.com/office/drawing/2014/main" id="{9AA86D0B-C41D-45B4-92A0-F075BEAE7915}"/>
              </a:ext>
            </a:extLst>
          </p:cNvPr>
          <p:cNvSpPr>
            <a:spLocks xmlns:a="http://schemas.openxmlformats.org/drawingml/2006/main" noGrp="1"/>
          </p:cNvSpPr>
          <p:nvPr/>
        </p:nvSpPr>
        <p:spPr>
          <a:xfrm xmlns:a="http://schemas.openxmlformats.org/drawingml/2006/main">
            <a:off x="9058275" y="4733925"/>
            <a:ext cx="2447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Only posted documents</a:t>
            </a:r>
          </a:p>
          <a:p xmlns:a="http://schemas.openxmlformats.org/drawingml/2006/main">
            <a:pPr>
              <a:defRPr sz="1725" b="0">
                <a:solidFill>
                  <a:srgbClr val="64796E"/>
                </a:solidFill>
                <a:latin typeface="Arial"/>
                <a:ea typeface="Arial"/>
                <a:cs typeface="Arial"/>
              </a:defRPr>
            </a:pPr>
            <a:r>
              <a:rPr sz="1725" b="0">
                <a:solidFill>
                  <a:srgbClr val="64796E"/>
                </a:solidFill>
                <a:latin typeface="Arial"/>
                <a:ea typeface="Arial"/>
                <a:cs typeface="Arial"/>
              </a:rPr>
              <a:t>enter reports</a:t>
            </a:r>
          </a:p>
        </p:txBody>
      </p:sp>
      <p:sp>
        <p:nvSpPr>
          <p:cNvPr id="18" name="">
            <a:extLst xmlns:a="http://schemas.openxmlformats.org/drawingml/2006/main">
              <a:ext uri="{FF2B5EF4-FFF2-40B4-BE49-F238E27FC236}">
                <a16:creationId xmlns:a16="http://schemas.microsoft.com/office/drawing/2014/main" id="{CEB2059B-9DE6-4B54-A523-9E8A316E1016}"/>
              </a:ext>
            </a:extLst>
          </p:cNvPr>
          <p:cNvSpPr>
            <a:spLocks xmlns:a="http://schemas.openxmlformats.org/drawingml/2006/main" noGrp="1"/>
          </p:cNvSpPr>
          <p:nvPr/>
        </p:nvSpPr>
        <p:spPr>
          <a:xfrm xmlns:a="http://schemas.openxmlformats.org/drawingml/2006/main">
            <a:off x="685800" y="5762625"/>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4796E"/>
                </a:solidFill>
                <a:latin typeface="Arial"/>
                <a:ea typeface="Arial"/>
                <a:cs typeface="Arial"/>
              </a:defRPr>
            </a:pPr>
            <a:r>
              <a:rPr sz="1275" b="0">
                <a:solidFill>
                  <a:srgbClr val="64796E"/>
                </a:solidFill>
                <a:latin typeface="Arial"/>
                <a:ea typeface="Arial"/>
                <a:cs typeface="Arial"/>
              </a:rPr>
              <a:t>Workflow illustration</a:t>
            </a:r>
          </a:p>
        </p:txBody>
      </p:sp>
    </p:spTree>
    <p:extLst>
      <p:ext uri="{BB962C8B-B14F-4D97-AF65-F5344CB8AC3E}">
        <p14:creationId xmlns:p14="http://schemas.microsoft.com/office/powerpoint/2010/main" val="27435957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FD0B64-E935-49A6-8899-6D3D66DEA6F7}"/>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NB Accounting: rules that protect the result</a:t>
            </a:r>
          </a:p>
        </p:txBody>
      </p:sp>
      <p:sp>
        <p:nvSpPr>
          <p:cNvPr id="2" name="">
            <a:extLst xmlns:a="http://schemas.openxmlformats.org/drawingml/2006/main">
              <a:ext uri="{FF2B5EF4-FFF2-40B4-BE49-F238E27FC236}">
                <a16:creationId xmlns:a16="http://schemas.microsoft.com/office/drawing/2014/main" id="{30D51827-AB35-461A-8F58-F069D161DC4B}"/>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937ABC8F-E827-42F5-AB88-9A2CA82189DB}"/>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54E47C6E-D37D-4473-A5F1-BFC6438125FE}"/>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0E49AEA-E02E-49C1-8C58-7870B5A6B719}"/>
              </a:ext>
            </a:extLst>
          </p:cNvPr>
          <p:cNvSpPr>
            <a:spLocks xmlns:a="http://schemas.openxmlformats.org/drawingml/2006/main" noGrp="1"/>
          </p:cNvSpPr>
          <p:nvPr/>
        </p:nvSpPr>
        <p:spPr>
          <a:xfrm xmlns:a="http://schemas.openxmlformats.org/drawingml/2006/main">
            <a:off x="685800" y="157162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15B50"/>
                </a:solidFill>
                <a:latin typeface="Arial"/>
                <a:ea typeface="Arial"/>
                <a:cs typeface="Arial"/>
              </a:defRPr>
            </a:pPr>
            <a:r>
              <a:rPr sz="2325" b="1">
                <a:solidFill>
                  <a:srgbClr val="315B50"/>
                </a:solidFill>
                <a:latin typeface="Arial"/>
                <a:ea typeface="Arial"/>
                <a:cs typeface="Arial"/>
              </a:rPr>
              <a:t>Closed accounting periods</a:t>
            </a:r>
          </a:p>
        </p:txBody>
      </p:sp>
      <p:sp>
        <p:nvSpPr>
          <p:cNvPr id="6" name="">
            <a:extLst xmlns:a="http://schemas.openxmlformats.org/drawingml/2006/main">
              <a:ext uri="{FF2B5EF4-FFF2-40B4-BE49-F238E27FC236}">
                <a16:creationId xmlns:a16="http://schemas.microsoft.com/office/drawing/2014/main" id="{84975DA1-3A9F-4702-B47D-54A2826FE5FE}"/>
              </a:ext>
            </a:extLst>
          </p:cNvPr>
          <p:cNvSpPr>
            <a:spLocks xmlns:a="http://schemas.openxmlformats.org/drawingml/2006/main" noGrp="1"/>
          </p:cNvSpPr>
          <p:nvPr/>
        </p:nvSpPr>
        <p:spPr>
          <a:xfrm xmlns:a="http://schemas.openxmlformats.org/drawingml/2006/main">
            <a:off x="685800" y="2305050"/>
            <a:ext cx="49720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3C33"/>
                </a:solidFill>
                <a:latin typeface="Arial"/>
                <a:ea typeface="Arial"/>
                <a:cs typeface="Arial"/>
              </a:defRPr>
            </a:pPr>
            <a:r>
              <a:rPr sz="2250" b="1">
                <a:solidFill>
                  <a:srgbClr val="213C33"/>
                </a:solidFill>
                <a:latin typeface="Arial"/>
                <a:ea typeface="Arial"/>
                <a:cs typeface="Arial"/>
              </a:rPr>
              <a:t>Posting inside a closed period</a:t>
            </a:r>
          </a:p>
          <a:p xmlns:a="http://schemas.openxmlformats.org/drawingml/2006/main">
            <a:pPr>
              <a:defRPr sz="2250" b="1">
                <a:solidFill>
                  <a:srgbClr val="213C33"/>
                </a:solidFill>
                <a:latin typeface="Arial"/>
                <a:ea typeface="Arial"/>
                <a:cs typeface="Arial"/>
              </a:defRPr>
            </a:pPr>
            <a:r>
              <a:rPr sz="2250" b="1">
                <a:solidFill>
                  <a:srgbClr val="213C33"/>
                </a:solidFill>
                <a:latin typeface="Arial"/>
                <a:ea typeface="Arial"/>
                <a:cs typeface="Arial"/>
              </a:rPr>
              <a:t>must fail.</a:t>
            </a:r>
          </a:p>
        </p:txBody>
      </p:sp>
      <p:sp>
        <p:nvSpPr>
          <p:cNvPr id="7" name="">
            <a:extLst xmlns:a="http://schemas.openxmlformats.org/drawingml/2006/main">
              <a:ext uri="{FF2B5EF4-FFF2-40B4-BE49-F238E27FC236}">
                <a16:creationId xmlns:a16="http://schemas.microsoft.com/office/drawing/2014/main" id="{A4655106-034E-4EFA-8DE8-982482C62C15}"/>
              </a:ext>
            </a:extLst>
          </p:cNvPr>
          <p:cNvSpPr>
            <a:spLocks xmlns:a="http://schemas.openxmlformats.org/drawingml/2006/main" noGrp="1"/>
          </p:cNvSpPr>
          <p:nvPr/>
        </p:nvSpPr>
        <p:spPr>
          <a:xfrm xmlns:a="http://schemas.openxmlformats.org/drawingml/2006/main">
            <a:off x="685800" y="3476625"/>
            <a:ext cx="5000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Draft documents can block closure.</a:t>
            </a:r>
          </a:p>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A separate action reopens only</a:t>
            </a:r>
          </a:p>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the latest closed period.</a:t>
            </a:r>
          </a:p>
        </p:txBody>
      </p:sp>
      <p:sp>
        <p:nvSpPr>
          <p:cNvPr id="8" name="">
            <a:extLst xmlns:a="http://schemas.openxmlformats.org/drawingml/2006/main">
              <a:ext uri="{FF2B5EF4-FFF2-40B4-BE49-F238E27FC236}">
                <a16:creationId xmlns:a16="http://schemas.microsoft.com/office/drawing/2014/main" id="{0ABC6763-4B27-44D1-9AF4-5350CA995D20}"/>
              </a:ext>
            </a:extLst>
          </p:cNvPr>
          <p:cNvSpPr>
            <a:spLocks xmlns:a="http://schemas.openxmlformats.org/drawingml/2006/main" noGrp="1"/>
          </p:cNvSpPr>
          <p:nvPr/>
        </p:nvSpPr>
        <p:spPr>
          <a:xfrm xmlns:a="http://schemas.openxmlformats.org/drawingml/2006/main">
            <a:off x="6705600" y="1571625"/>
            <a:ext cx="4800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315B50"/>
                </a:solidFill>
                <a:latin typeface="Arial"/>
                <a:ea typeface="Arial"/>
                <a:cs typeface="Arial"/>
              </a:defRPr>
            </a:pPr>
            <a:r>
              <a:rPr sz="2325" b="1">
                <a:solidFill>
                  <a:srgbClr val="315B50"/>
                </a:solidFill>
                <a:latin typeface="Arial"/>
                <a:ea typeface="Arial"/>
                <a:cs typeface="Arial"/>
              </a:rPr>
              <a:t>Payment file validation</a:t>
            </a:r>
          </a:p>
        </p:txBody>
      </p:sp>
      <p:sp>
        <p:nvSpPr>
          <p:cNvPr id="9" name="">
            <a:extLst xmlns:a="http://schemas.openxmlformats.org/drawingml/2006/main">
              <a:ext uri="{FF2B5EF4-FFF2-40B4-BE49-F238E27FC236}">
                <a16:creationId xmlns:a16="http://schemas.microsoft.com/office/drawing/2014/main" id="{517401BD-2501-4412-B016-D72ADA57E3D6}"/>
              </a:ext>
            </a:extLst>
          </p:cNvPr>
          <p:cNvSpPr>
            <a:spLocks xmlns:a="http://schemas.openxmlformats.org/drawingml/2006/main" noGrp="1"/>
          </p:cNvSpPr>
          <p:nvPr/>
        </p:nvSpPr>
        <p:spPr>
          <a:xfrm xmlns:a="http://schemas.openxmlformats.org/drawingml/2006/main">
            <a:off x="6705600" y="2305050"/>
            <a:ext cx="4800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3C33"/>
                </a:solidFill>
                <a:latin typeface="Arial"/>
                <a:ea typeface="Arial"/>
                <a:cs typeface="Arial"/>
              </a:defRPr>
            </a:pPr>
            <a:r>
              <a:rPr sz="2250" b="1">
                <a:solidFill>
                  <a:srgbClr val="213C33"/>
                </a:solidFill>
                <a:latin typeface="Arial"/>
                <a:ea typeface="Arial"/>
                <a:cs typeface="Arial"/>
              </a:rPr>
              <a:t>A bank export must satisfy the</a:t>
            </a:r>
          </a:p>
          <a:p xmlns:a="http://schemas.openxmlformats.org/drawingml/2006/main">
            <a:pPr>
              <a:defRPr sz="2250" b="1">
                <a:solidFill>
                  <a:srgbClr val="213C33"/>
                </a:solidFill>
                <a:latin typeface="Arial"/>
                <a:ea typeface="Arial"/>
                <a:cs typeface="Arial"/>
              </a:defRPr>
            </a:pPr>
            <a:r>
              <a:rPr sz="2250" b="1">
                <a:solidFill>
                  <a:srgbClr val="213C33"/>
                </a:solidFill>
                <a:latin typeface="Arial"/>
                <a:ea typeface="Arial"/>
                <a:cs typeface="Arial"/>
              </a:rPr>
              <a:t>expected XML schema.</a:t>
            </a:r>
          </a:p>
        </p:txBody>
      </p:sp>
      <p:sp>
        <p:nvSpPr>
          <p:cNvPr id="10" name="">
            <a:extLst xmlns:a="http://schemas.openxmlformats.org/drawingml/2006/main">
              <a:ext uri="{FF2B5EF4-FFF2-40B4-BE49-F238E27FC236}">
                <a16:creationId xmlns:a16="http://schemas.microsoft.com/office/drawing/2014/main" id="{EAB5C807-C29A-4979-BE11-090DD4462BFD}"/>
              </a:ext>
            </a:extLst>
          </p:cNvPr>
          <p:cNvSpPr>
            <a:spLocks xmlns:a="http://schemas.openxmlformats.org/drawingml/2006/main" noGrp="1"/>
          </p:cNvSpPr>
          <p:nvPr/>
        </p:nvSpPr>
        <p:spPr>
          <a:xfrm xmlns:a="http://schemas.openxmlformats.org/drawingml/2006/main">
            <a:off x="6705600" y="3476625"/>
            <a:ext cx="4800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ISO 20022 pain.001 generation includes</a:t>
            </a:r>
          </a:p>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amount and field checks, then validates</a:t>
            </a:r>
          </a:p>
          <a:p xmlns:a="http://schemas.openxmlformats.org/drawingml/2006/main">
            <a:pPr>
              <a:defRPr sz="1875" b="0">
                <a:solidFill>
                  <a:srgbClr val="213C33"/>
                </a:solidFill>
                <a:latin typeface="Arial"/>
                <a:ea typeface="Arial"/>
                <a:cs typeface="Arial"/>
              </a:defRPr>
            </a:pPr>
            <a:r>
              <a:rPr sz="1875" b="0">
                <a:solidFill>
                  <a:srgbClr val="213C33"/>
                </a:solidFill>
                <a:latin typeface="Arial"/>
                <a:ea typeface="Arial"/>
                <a:cs typeface="Arial"/>
              </a:rPr>
              <a:t>the output against its XSD schema.</a:t>
            </a:r>
          </a:p>
        </p:txBody>
      </p:sp>
      <p:sp>
        <p:nvSpPr>
          <p:cNvPr id="11" name="">
            <a:extLst xmlns:a="http://schemas.openxmlformats.org/drawingml/2006/main">
              <a:ext uri="{FF2B5EF4-FFF2-40B4-BE49-F238E27FC236}">
                <a16:creationId xmlns:a16="http://schemas.microsoft.com/office/drawing/2014/main" id="{C8BA7801-DBE8-4535-AE49-65259C47E840}"/>
              </a:ext>
            </a:extLst>
          </p:cNvPr>
          <p:cNvSpPr>
            <a:spLocks xmlns:a="http://schemas.openxmlformats.org/drawingml/2006/main" noGrp="1"/>
          </p:cNvSpPr>
          <p:nvPr/>
        </p:nvSpPr>
        <p:spPr>
          <a:xfrm xmlns:a="http://schemas.openxmlformats.org/drawingml/2006/main">
            <a:off x="685800" y="50958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12" name="">
            <a:extLst xmlns:a="http://schemas.openxmlformats.org/drawingml/2006/main">
              <a:ext uri="{FF2B5EF4-FFF2-40B4-BE49-F238E27FC236}">
                <a16:creationId xmlns:a16="http://schemas.microsoft.com/office/drawing/2014/main" id="{92C0221A-6346-4CAA-ADE3-CC60E9409037}"/>
              </a:ext>
            </a:extLst>
          </p:cNvPr>
          <p:cNvSpPr>
            <a:spLocks xmlns:a="http://schemas.openxmlformats.org/drawingml/2006/main" noGrp="1"/>
          </p:cNvSpPr>
          <p:nvPr/>
        </p:nvSpPr>
        <p:spPr>
          <a:xfrm xmlns:a="http://schemas.openxmlformats.org/drawingml/2006/main">
            <a:off x="685800" y="53435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15B50"/>
                </a:solidFill>
                <a:latin typeface="Arial"/>
                <a:ea typeface="Arial"/>
                <a:cs typeface="Arial"/>
              </a:defRPr>
            </a:pPr>
            <a:r>
              <a:rPr sz="1875" b="0">
                <a:solidFill>
                  <a:srgbClr val="315B50"/>
                </a:solidFill>
                <a:latin typeface="Arial"/>
                <a:ea typeface="Arial"/>
                <a:cs typeface="Arial"/>
              </a:rPr>
              <a:t>My contribution: turn accounting requirements into explicit behaviour</a:t>
            </a:r>
          </a:p>
          <a:p xmlns:a="http://schemas.openxmlformats.org/drawingml/2006/main">
            <a:pPr>
              <a:defRPr sz="1875" b="0">
                <a:solidFill>
                  <a:srgbClr val="315B50"/>
                </a:solidFill>
                <a:latin typeface="Arial"/>
                <a:ea typeface="Arial"/>
                <a:cs typeface="Arial"/>
              </a:defRPr>
            </a:pPr>
            <a:r>
              <a:rPr sz="1875" b="0">
                <a:solidFill>
                  <a:srgbClr val="315B50"/>
                </a:solidFill>
                <a:latin typeface="Arial"/>
                <a:ea typeface="Arial"/>
                <a:cs typeface="Arial"/>
              </a:rPr>
              <a:t>and check both valid input and failure cases.</a:t>
            </a:r>
          </a:p>
        </p:txBody>
      </p:sp>
    </p:spTree>
    <p:extLst>
      <p:ext uri="{BB962C8B-B14F-4D97-AF65-F5344CB8AC3E}">
        <p14:creationId xmlns:p14="http://schemas.microsoft.com/office/powerpoint/2010/main" val="2001852844"/>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8C8E6E-E7A6-45B5-9865-75D8A8140D9C}"/>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How I build and refine the applications</a:t>
            </a:r>
          </a:p>
        </p:txBody>
      </p:sp>
      <p:sp>
        <p:nvSpPr>
          <p:cNvPr id="2" name="">
            <a:extLst xmlns:a="http://schemas.openxmlformats.org/drawingml/2006/main">
              <a:ext uri="{FF2B5EF4-FFF2-40B4-BE49-F238E27FC236}">
                <a16:creationId xmlns:a16="http://schemas.microsoft.com/office/drawing/2014/main" id="{B4A15B67-1E8D-467F-99B0-77ACC723BBE7}"/>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BE59FE16-2EC5-443D-B1BD-5E6823752B8A}"/>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B5505506-3530-429A-B0EC-234F8C8E117E}"/>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6DC33E3-89B0-4ED4-AD9E-DA835E8418B6}"/>
              </a:ext>
            </a:extLst>
          </p:cNvPr>
          <p:cNvSpPr>
            <a:spLocks xmlns:a="http://schemas.openxmlformats.org/drawingml/2006/main" noGrp="1"/>
          </p:cNvSpPr>
          <p:nvPr/>
        </p:nvSpPr>
        <p:spPr>
          <a:xfrm xmlns:a="http://schemas.openxmlformats.org/drawingml/2006/main">
            <a:off x="685800" y="15049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15B50"/>
                </a:solidFill>
                <a:latin typeface="Arial"/>
                <a:ea typeface="Arial"/>
                <a:cs typeface="Arial"/>
              </a:defRPr>
            </a:pPr>
            <a:r>
              <a:rPr sz="2400" b="1">
                <a:solidFill>
                  <a:srgbClr val="315B50"/>
                </a:solidFill>
                <a:latin typeface="Arial"/>
                <a:ea typeface="Arial"/>
                <a:cs typeface="Arial"/>
              </a:rPr>
              <a:t>My decisions</a:t>
            </a:r>
          </a:p>
        </p:txBody>
      </p:sp>
      <p:sp>
        <p:nvSpPr>
          <p:cNvPr id="6" name="">
            <a:extLst xmlns:a="http://schemas.openxmlformats.org/drawingml/2006/main">
              <a:ext uri="{FF2B5EF4-FFF2-40B4-BE49-F238E27FC236}">
                <a16:creationId xmlns:a16="http://schemas.microsoft.com/office/drawing/2014/main" id="{D40381D7-C44B-4882-87E3-3EEF47BB81D6}"/>
              </a:ext>
            </a:extLst>
          </p:cNvPr>
          <p:cNvSpPr>
            <a:spLocks xmlns:a="http://schemas.openxmlformats.org/drawingml/2006/main" noGrp="1"/>
          </p:cNvSpPr>
          <p:nvPr/>
        </p:nvSpPr>
        <p:spPr>
          <a:xfrm xmlns:a="http://schemas.openxmlformats.org/drawingml/2006/main">
            <a:off x="685800" y="2238375"/>
            <a:ext cx="523875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Define the problem and expected behaviour</a:t>
            </a:r>
          </a:p>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Describe states, rules and exceptions</a:t>
            </a:r>
          </a:p>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Choose the next useful change</a:t>
            </a:r>
          </a:p>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Use the application and check the result</a:t>
            </a:r>
          </a:p>
        </p:txBody>
      </p:sp>
      <p:sp>
        <p:nvSpPr>
          <p:cNvPr id="7" name="">
            <a:extLst xmlns:a="http://schemas.openxmlformats.org/drawingml/2006/main">
              <a:ext uri="{FF2B5EF4-FFF2-40B4-BE49-F238E27FC236}">
                <a16:creationId xmlns:a16="http://schemas.microsoft.com/office/drawing/2014/main" id="{8913C363-BDB3-48F1-9322-DA00015AD62E}"/>
              </a:ext>
            </a:extLst>
          </p:cNvPr>
          <p:cNvSpPr>
            <a:spLocks xmlns:a="http://schemas.openxmlformats.org/drawingml/2006/main" noGrp="1"/>
          </p:cNvSpPr>
          <p:nvPr/>
        </p:nvSpPr>
        <p:spPr>
          <a:xfrm xmlns:a="http://schemas.openxmlformats.org/drawingml/2006/main">
            <a:off x="7029450" y="15049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315B50"/>
                </a:solidFill>
                <a:latin typeface="Arial"/>
                <a:ea typeface="Arial"/>
                <a:cs typeface="Arial"/>
              </a:defRPr>
            </a:pPr>
            <a:r>
              <a:rPr sz="2400" b="1">
                <a:solidFill>
                  <a:srgbClr val="315B50"/>
                </a:solidFill>
                <a:latin typeface="Arial"/>
                <a:ea typeface="Arial"/>
                <a:cs typeface="Arial"/>
              </a:rPr>
              <a:t>AI coding tools</a:t>
            </a:r>
          </a:p>
        </p:txBody>
      </p:sp>
      <p:sp>
        <p:nvSpPr>
          <p:cNvPr id="8" name="">
            <a:extLst xmlns:a="http://schemas.openxmlformats.org/drawingml/2006/main">
              <a:ext uri="{FF2B5EF4-FFF2-40B4-BE49-F238E27FC236}">
                <a16:creationId xmlns:a16="http://schemas.microsoft.com/office/drawing/2014/main" id="{2DDB9E5D-018C-4081-91BE-3761EC619232}"/>
              </a:ext>
            </a:extLst>
          </p:cNvPr>
          <p:cNvSpPr>
            <a:spLocks xmlns:a="http://schemas.openxmlformats.org/drawingml/2006/main" noGrp="1"/>
          </p:cNvSpPr>
          <p:nvPr/>
        </p:nvSpPr>
        <p:spPr>
          <a:xfrm xmlns:a="http://schemas.openxmlformats.org/drawingml/2006/main">
            <a:off x="7029450" y="2238375"/>
            <a:ext cx="44767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Implement the requested behaviour</a:t>
            </a:r>
          </a:p>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Help investigate defects</a:t>
            </a:r>
          </a:p>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Revise the code after feedback</a:t>
            </a:r>
          </a:p>
        </p:txBody>
      </p:sp>
      <p:sp>
        <p:nvSpPr>
          <p:cNvPr id="9" name="">
            <a:extLst xmlns:a="http://schemas.openxmlformats.org/drawingml/2006/main">
              <a:ext uri="{FF2B5EF4-FFF2-40B4-BE49-F238E27FC236}">
                <a16:creationId xmlns:a16="http://schemas.microsoft.com/office/drawing/2014/main" id="{B07D5A45-D122-4870-B153-C4EFB06C982F}"/>
              </a:ext>
            </a:extLst>
          </p:cNvPr>
          <p:cNvSpPr>
            <a:spLocks xmlns:a="http://schemas.openxmlformats.org/drawingml/2006/main" noGrp="1"/>
          </p:cNvSpPr>
          <p:nvPr/>
        </p:nvSpPr>
        <p:spPr>
          <a:xfrm xmlns:a="http://schemas.openxmlformats.org/drawingml/2006/main">
            <a:off x="685800" y="4438650"/>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10" name="">
            <a:extLst xmlns:a="http://schemas.openxmlformats.org/drawingml/2006/main">
              <a:ext uri="{FF2B5EF4-FFF2-40B4-BE49-F238E27FC236}">
                <a16:creationId xmlns:a16="http://schemas.microsoft.com/office/drawing/2014/main" id="{5FD46ED0-A1F7-4A0B-B6DD-C0F85AB01A58}"/>
              </a:ext>
            </a:extLst>
          </p:cNvPr>
          <p:cNvSpPr>
            <a:spLocks xmlns:a="http://schemas.openxmlformats.org/drawingml/2006/main" noGrp="1"/>
          </p:cNvSpPr>
          <p:nvPr/>
        </p:nvSpPr>
        <p:spPr>
          <a:xfrm xmlns:a="http://schemas.openxmlformats.org/drawingml/2006/main">
            <a:off x="685800" y="4781550"/>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15B50"/>
                </a:solidFill>
                <a:latin typeface="Arial"/>
                <a:ea typeface="Arial"/>
                <a:cs typeface="Arial"/>
              </a:defRPr>
            </a:pPr>
            <a:r>
              <a:rPr sz="1950" b="1">
                <a:solidFill>
                  <a:srgbClr val="315B50"/>
                </a:solidFill>
                <a:latin typeface="Arial"/>
                <a:ea typeface="Arial"/>
                <a:cs typeface="Arial"/>
              </a:rPr>
              <a:t>Shared technical foundation</a:t>
            </a:r>
          </a:p>
        </p:txBody>
      </p:sp>
      <p:sp>
        <p:nvSpPr>
          <p:cNvPr id="11" name="">
            <a:extLst xmlns:a="http://schemas.openxmlformats.org/drawingml/2006/main">
              <a:ext uri="{FF2B5EF4-FFF2-40B4-BE49-F238E27FC236}">
                <a16:creationId xmlns:a16="http://schemas.microsoft.com/office/drawing/2014/main" id="{20C3A41D-DBD6-4854-8580-14022EC67E66}"/>
              </a:ext>
            </a:extLst>
          </p:cNvPr>
          <p:cNvSpPr>
            <a:spLocks xmlns:a="http://schemas.openxmlformats.org/drawingml/2006/main" noGrp="1"/>
          </p:cNvSpPr>
          <p:nvPr/>
        </p:nvSpPr>
        <p:spPr>
          <a:xfrm xmlns:a="http://schemas.openxmlformats.org/drawingml/2006/main">
            <a:off x="685800" y="53054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13C33"/>
                </a:solidFill>
                <a:latin typeface="Arial"/>
                <a:ea typeface="Arial"/>
                <a:cs typeface="Arial"/>
              </a:defRPr>
            </a:pPr>
            <a:r>
              <a:rPr sz="2025" b="0">
                <a:solidFill>
                  <a:srgbClr val="213C33"/>
                </a:solidFill>
                <a:latin typeface="Arial"/>
                <a:ea typeface="Arial"/>
                <a:cs typeface="Arial"/>
              </a:rPr>
              <a:t>FastAPI / Python, PostgreSQL, React / TypeScript and Docker</a:t>
            </a:r>
          </a:p>
        </p:txBody>
      </p:sp>
    </p:spTree>
    <p:extLst>
      <p:ext uri="{BB962C8B-B14F-4D97-AF65-F5344CB8AC3E}">
        <p14:creationId xmlns:p14="http://schemas.microsoft.com/office/powerpoint/2010/main" val="17985313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56BB34F-028D-46F7-B1A1-97571B5018CB}"/>
              </a:ext>
            </a:extLst>
          </p:cNvPr>
          <p:cNvSpPr>
            <a:spLocks xmlns:a="http://schemas.openxmlformats.org/drawingml/2006/main" noGrp="1"/>
          </p:cNvSpPr>
          <p:nvPr/>
        </p:nvSpPr>
        <p:spPr>
          <a:xfrm xmlns:a="http://schemas.openxmlformats.org/drawingml/2006/main">
            <a:off x="685800" y="5238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13C33"/>
                </a:solidFill>
                <a:latin typeface="Arial"/>
                <a:ea typeface="Arial"/>
                <a:cs typeface="Arial"/>
              </a:defRPr>
            </a:pPr>
            <a:r>
              <a:rPr sz="3450" b="1">
                <a:solidFill>
                  <a:srgbClr val="213C33"/>
                </a:solidFill>
                <a:latin typeface="Arial"/>
                <a:ea typeface="Arial"/>
                <a:cs typeface="Arial"/>
              </a:rPr>
              <a:t>What these projects demonstrate</a:t>
            </a:r>
          </a:p>
        </p:txBody>
      </p:sp>
      <p:sp>
        <p:nvSpPr>
          <p:cNvPr id="2" name="">
            <a:extLst xmlns:a="http://schemas.openxmlformats.org/drawingml/2006/main">
              <a:ext uri="{FF2B5EF4-FFF2-40B4-BE49-F238E27FC236}">
                <a16:creationId xmlns:a16="http://schemas.microsoft.com/office/drawing/2014/main" id="{975707EA-9A6F-45AE-B2C5-47DAD157FBA4}"/>
              </a:ext>
            </a:extLst>
          </p:cNvPr>
          <p:cNvSpPr>
            <a:spLocks xmlns:a="http://schemas.openxmlformats.org/drawingml/2006/main" noGrp="1"/>
          </p:cNvSpPr>
          <p:nvPr/>
        </p:nvSpPr>
        <p:spPr>
          <a:xfrm xmlns:a="http://schemas.openxmlformats.org/drawingml/2006/main">
            <a:off x="685800" y="62007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3" name="">
            <a:extLst xmlns:a="http://schemas.openxmlformats.org/drawingml/2006/main">
              <a:ext uri="{FF2B5EF4-FFF2-40B4-BE49-F238E27FC236}">
                <a16:creationId xmlns:a16="http://schemas.microsoft.com/office/drawing/2014/main" id="{554A8A02-AD75-4295-81B8-33B761847650}"/>
              </a:ext>
            </a:extLst>
          </p:cNvPr>
          <p:cNvSpPr>
            <a:spLocks xmlns:a="http://schemas.openxmlformats.org/drawingml/2006/main" noGrp="1"/>
          </p:cNvSpPr>
          <p:nvPr/>
        </p:nvSpPr>
        <p:spPr>
          <a:xfrm xmlns:a="http://schemas.openxmlformats.org/drawingml/2006/main">
            <a:off x="685800" y="6410325"/>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4796E"/>
                </a:solidFill>
                <a:latin typeface="Arial"/>
                <a:ea typeface="Arial"/>
                <a:cs typeface="Arial"/>
              </a:defRPr>
            </a:pPr>
            <a:r>
              <a:rPr sz="1125" b="0">
                <a:solidFill>
                  <a:srgbClr val="64796E"/>
                </a:solidFill>
                <a:latin typeface="Arial"/>
                <a:ea typeface="Arial"/>
                <a:cs typeface="Arial"/>
              </a:rPr>
              <a:t>Neringa Bateikienė</a:t>
            </a:r>
          </a:p>
        </p:txBody>
      </p:sp>
      <p:sp>
        <p:nvSpPr>
          <p:cNvPr id="4" name="">
            <a:extLst xmlns:a="http://schemas.openxmlformats.org/drawingml/2006/main">
              <a:ext uri="{FF2B5EF4-FFF2-40B4-BE49-F238E27FC236}">
                <a16:creationId xmlns:a16="http://schemas.microsoft.com/office/drawing/2014/main" id="{6D806C81-074E-47E7-8DC8-0C35F72D4799}"/>
              </a:ext>
            </a:extLst>
          </p:cNvPr>
          <p:cNvSpPr>
            <a:spLocks xmlns:a="http://schemas.openxmlformats.org/drawingml/2006/main" noGrp="1"/>
          </p:cNvSpPr>
          <p:nvPr/>
        </p:nvSpPr>
        <p:spPr>
          <a:xfrm xmlns:a="http://schemas.openxmlformats.org/drawingml/2006/main">
            <a:off x="10858500" y="6391275"/>
            <a:ext cx="647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4796E"/>
                </a:solidFill>
                <a:latin typeface="Arial"/>
                <a:ea typeface="Arial"/>
                <a:cs typeface="Arial"/>
              </a:defRPr>
            </a:pPr>
            <a:r>
              <a:rPr sz="1200" b="0">
                <a:solidFill>
                  <a:srgbClr val="64796E"/>
                </a:solidFill>
                <a:latin typeface="Arial"/>
                <a:ea typeface="Arial"/>
                <a:cs typeface="Arial"/>
              </a:rPr>
              <a:t>07</a:t>
            </a:r>
          </a:p>
        </p:txBody>
      </p:sp>
      <p:graphicFrame>
        <p:nvGraphicFramePr>
          <p:cNvPr id="15" name=""/>
          <p:cNvGraphicFramePr/>
          <p:nvPr/>
        </p:nvGraphicFramePr>
        <p:xfrm>
          <a:off xmlns:a="http://schemas.openxmlformats.org/drawingml/2006/main" x="685800" y="1381125"/>
          <a:ext xmlns:a="http://schemas.openxmlformats.org/drawingml/2006/main" cx="10820400" cy="3314700"/>
        </p:xfrm>
        <a:graphic xmlns:a="http://schemas.openxmlformats.org/drawingml/2006/main">
          <a:graphicData uri="http://schemas.openxmlformats.org/drawingml/2006/table">
            <a:tbl>
              <a:tblPr firstRow="0" bandRow="0"/>
              <a:tblGrid>
                <a:gridCol w="4438650"/>
                <a:gridCol w="6381750"/>
              </a:tblGrid>
              <a:tr h="828675">
                <a:tc>
                  <a:txBody>
                    <a:bodyPr lIns="0" tIns="76200" rIns="190500" bIns="76200">
                      <a:noAutofit/>
                    </a:bodyPr>
                    <a:lstStyle/>
                    <a:p>
                      <a:r>
                        <a:rPr sz="2175" b="1">
                          <a:solidFill>
                            <a:srgbClr val="315B50"/>
                          </a:solidFill>
                          <a:latin typeface="Arial"/>
                          <a:ea typeface="Arial"/>
                          <a:cs typeface="Arial"/>
                        </a:rPr>
                        <a:t>Product capability</a:t>
                      </a:r>
                    </a:p>
                  </a:txBody>
                  <a:tcPr marL="91440" marR="91440" marT="45720" marB="45720" anchor="ctr">
                    <a:solidFill>
                      <a:srgbClr val="FFFFFF"/>
                    </a:solidFill>
                  </a:tcPr>
                </a:tc>
                <a:tc>
                  <a:txBody>
                    <a:bodyPr lIns="0" tIns="76200" rIns="190500" bIns="76200">
                      <a:noAutofit/>
                    </a:bodyPr>
                    <a:lstStyle/>
                    <a:p>
                      <a:r>
                        <a:rPr sz="2175" b="1">
                          <a:solidFill>
                            <a:srgbClr val="315B50"/>
                          </a:solidFill>
                          <a:latin typeface="Arial"/>
                          <a:ea typeface="Arial"/>
                          <a:cs typeface="Arial"/>
                        </a:rPr>
                        <a:t>Project evidence</a:t>
                      </a:r>
                    </a:p>
                  </a:txBody>
                  <a:tcPr marL="91440" marR="91440" marT="45720" marB="45720" anchor="ctr">
                    <a:solidFill>
                      <a:srgbClr val="FFFFFF"/>
                    </a:solidFill>
                  </a:tcPr>
                </a:tc>
              </a:tr>
              <a:tr h="828675">
                <a:tc>
                  <a:txBody>
                    <a:bodyPr lIns="0" tIns="76200" rIns="190500" bIns="76200">
                      <a:noAutofit/>
                    </a:bodyPr>
                    <a:lstStyle/>
                    <a:p>
                      <a:r>
                        <a:rPr sz="1950" b="1">
                          <a:solidFill>
                            <a:srgbClr val="213C33"/>
                          </a:solidFill>
                          <a:latin typeface="Arial"/>
                          <a:ea typeface="Arial"/>
                          <a:cs typeface="Arial"/>
                        </a:rPr>
                        <a:t>User needs and priorities</a:t>
                      </a:r>
                    </a:p>
                  </a:txBody>
                  <a:tcPr marL="91440" marR="91440" marT="45720" marB="45720" anchor="ctr">
                    <a:solidFill>
                      <a:srgbClr val="FFFFFF"/>
                    </a:solidFill>
                  </a:tcPr>
                </a:tc>
                <a:tc>
                  <a:txBody>
                    <a:bodyPr lIns="0" tIns="76200" rIns="190500" bIns="76200">
                      <a:noAutofit/>
                    </a:bodyPr>
                    <a:lstStyle/>
                    <a:p>
                      <a:r>
                        <a:rPr sz="1950" b="0">
                          <a:solidFill>
                            <a:srgbClr val="213C33"/>
                          </a:solidFill>
                          <a:latin typeface="Arial"/>
                          <a:ea typeface="Arial"/>
                          <a:cs typeface="Arial"/>
                        </a:rPr>
                        <a:t>Applications shaped by problems I encounter myself</a:t>
                      </a:r>
                    </a:p>
                  </a:txBody>
                  <a:tcPr marL="91440" marR="91440" marT="45720" marB="45720" anchor="ctr">
                    <a:solidFill>
                      <a:srgbClr val="FFFFFF"/>
                    </a:solidFill>
                  </a:tcPr>
                </a:tc>
              </a:tr>
              <a:tr h="828675">
                <a:tc>
                  <a:txBody>
                    <a:bodyPr lIns="0" tIns="76200" rIns="190500" bIns="76200">
                      <a:noAutofit/>
                    </a:bodyPr>
                    <a:lstStyle/>
                    <a:p>
                      <a:r>
                        <a:rPr sz="1950" b="1">
                          <a:solidFill>
                            <a:srgbClr val="213C33"/>
                          </a:solidFill>
                          <a:latin typeface="Arial"/>
                          <a:ea typeface="Arial"/>
                          <a:cs typeface="Arial"/>
                        </a:rPr>
                        <a:t>AI-assisted product development</a:t>
                      </a:r>
                    </a:p>
                  </a:txBody>
                  <a:tcPr marL="91440" marR="91440" marT="45720" marB="45720" anchor="ctr">
                    <a:solidFill>
                      <a:srgbClr val="FFFFFF"/>
                    </a:solidFill>
                  </a:tcPr>
                </a:tc>
                <a:tc>
                  <a:txBody>
                    <a:bodyPr lIns="0" tIns="76200" rIns="190500" bIns="76200">
                      <a:noAutofit/>
                    </a:bodyPr>
                    <a:lstStyle/>
                    <a:p>
                      <a:r>
                        <a:rPr sz="1950" b="0">
                          <a:solidFill>
                            <a:srgbClr val="213C33"/>
                          </a:solidFill>
                          <a:latin typeface="Arial"/>
                          <a:ea typeface="Arial"/>
                          <a:cs typeface="Arial"/>
                        </a:rPr>
                        <a:t>Concrete requirements, iterations and result checks</a:t>
                      </a:r>
                    </a:p>
                  </a:txBody>
                  <a:tcPr marL="91440" marR="91440" marT="45720" marB="45720" anchor="ctr">
                    <a:solidFill>
                      <a:srgbClr val="FFFFFF"/>
                    </a:solidFill>
                  </a:tcPr>
                </a:tc>
              </a:tr>
              <a:tr h="828675">
                <a:tc>
                  <a:txBody>
                    <a:bodyPr lIns="0" tIns="76200" rIns="190500" bIns="76200">
                      <a:noAutofit/>
                    </a:bodyPr>
                    <a:lstStyle/>
                    <a:p>
                      <a:r>
                        <a:rPr sz="1950" b="1">
                          <a:solidFill>
                            <a:srgbClr val="213C33"/>
                          </a:solidFill>
                          <a:latin typeface="Arial"/>
                          <a:ea typeface="Arial"/>
                          <a:cs typeface="Arial"/>
                        </a:rPr>
                        <a:t>Quality and acceptance</a:t>
                      </a:r>
                    </a:p>
                  </a:txBody>
                  <a:tcPr marL="91440" marR="91440" marT="45720" marB="45720" anchor="ctr">
                    <a:solidFill>
                      <a:srgbClr val="FFFFFF"/>
                    </a:solidFill>
                  </a:tcPr>
                </a:tc>
                <a:tc>
                  <a:txBody>
                    <a:bodyPr lIns="0" tIns="76200" rIns="190500" bIns="76200">
                      <a:noAutofit/>
                    </a:bodyPr>
                    <a:lstStyle/>
                    <a:p>
                      <a:r>
                        <a:rPr sz="1950" b="0">
                          <a:solidFill>
                            <a:srgbClr val="213C33"/>
                          </a:solidFill>
                          <a:latin typeface="Arial"/>
                          <a:ea typeface="Arial"/>
                          <a:cs typeface="Arial"/>
                        </a:rPr>
                        <a:t>Event rules, posting controls and failure scenarios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48E2FF3-2BBC-4FAA-A0D4-6C636928A89E}"/>
              </a:ext>
            </a:extLst>
          </p:cNvPr>
          <p:cNvSpPr>
            <a:spLocks xmlns:a="http://schemas.openxmlformats.org/drawingml/2006/main" noGrp="1"/>
          </p:cNvSpPr>
          <p:nvPr/>
        </p:nvSpPr>
        <p:spPr>
          <a:xfrm xmlns:a="http://schemas.openxmlformats.org/drawingml/2006/main">
            <a:off x="685800" y="3038475"/>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7" name="">
            <a:extLst xmlns:a="http://schemas.openxmlformats.org/drawingml/2006/main">
              <a:ext uri="{FF2B5EF4-FFF2-40B4-BE49-F238E27FC236}">
                <a16:creationId xmlns:a16="http://schemas.microsoft.com/office/drawing/2014/main" id="{3F053429-E29A-4AAA-8B1E-3A9F8C413301}"/>
              </a:ext>
            </a:extLst>
          </p:cNvPr>
          <p:cNvSpPr>
            <a:spLocks xmlns:a="http://schemas.openxmlformats.org/drawingml/2006/main" noGrp="1"/>
          </p:cNvSpPr>
          <p:nvPr/>
        </p:nvSpPr>
        <p:spPr>
          <a:xfrm xmlns:a="http://schemas.openxmlformats.org/drawingml/2006/main">
            <a:off x="685800" y="3867150"/>
            <a:ext cx="10820400" cy="0"/>
          </a:xfrm>
          <a:prstGeom xmlns:a="http://schemas.openxmlformats.org/drawingml/2006/main" prst="line">
            <a:avLst/>
          </a:prstGeom>
          <a:noFill xmlns:a="http://schemas.openxmlformats.org/drawingml/2006/main"/>
          <a:ln xmlns:a="http://schemas.openxmlformats.org/drawingml/2006/main" w="11430">
            <a:solidFill>
              <a:srgbClr val="C8D3CA"/>
            </a:solidFill>
          </a:ln>
        </p:spPr>
      </p:sp>
      <p:sp>
        <p:nvSpPr>
          <p:cNvPr id="8" name="">
            <a:extLst xmlns:a="http://schemas.openxmlformats.org/drawingml/2006/main">
              <a:ext uri="{FF2B5EF4-FFF2-40B4-BE49-F238E27FC236}">
                <a16:creationId xmlns:a16="http://schemas.microsoft.com/office/drawing/2014/main" id="{B82CE18F-457F-49F0-90D8-C8F222CC6750}"/>
              </a:ext>
            </a:extLst>
          </p:cNvPr>
          <p:cNvSpPr>
            <a:spLocks xmlns:a="http://schemas.openxmlformats.org/drawingml/2006/main" noGrp="1"/>
          </p:cNvSpPr>
          <p:nvPr/>
        </p:nvSpPr>
        <p:spPr>
          <a:xfrm xmlns:a="http://schemas.openxmlformats.org/drawingml/2006/main">
            <a:off x="685800" y="4953000"/>
            <a:ext cx="3857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15B50"/>
                </a:solidFill>
                <a:latin typeface="Arial"/>
                <a:ea typeface="Arial"/>
                <a:cs typeface="Arial"/>
              </a:defRPr>
            </a:pPr>
            <a:r>
              <a:rPr sz="1950" b="1">
                <a:solidFill>
                  <a:srgbClr val="315B50"/>
                </a:solidFill>
                <a:latin typeface="Arial"/>
                <a:ea typeface="Arial"/>
                <a:cs typeface="Arial"/>
              </a:rPr>
              <a:t>Current project status</a:t>
            </a:r>
          </a:p>
        </p:txBody>
      </p:sp>
      <p:sp>
        <p:nvSpPr>
          <p:cNvPr id="9" name="">
            <a:extLst xmlns:a="http://schemas.openxmlformats.org/drawingml/2006/main">
              <a:ext uri="{FF2B5EF4-FFF2-40B4-BE49-F238E27FC236}">
                <a16:creationId xmlns:a16="http://schemas.microsoft.com/office/drawing/2014/main" id="{64A36C2B-0030-4D65-8143-3C9907107924}"/>
              </a:ext>
            </a:extLst>
          </p:cNvPr>
          <p:cNvSpPr>
            <a:spLocks xmlns:a="http://schemas.openxmlformats.org/drawingml/2006/main" noGrp="1"/>
          </p:cNvSpPr>
          <p:nvPr/>
        </p:nvSpPr>
        <p:spPr>
          <a:xfrm xmlns:a="http://schemas.openxmlformats.org/drawingml/2006/main">
            <a:off x="5124450" y="4953000"/>
            <a:ext cx="6381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13C33"/>
                </a:solidFill>
                <a:latin typeface="Arial"/>
                <a:ea typeface="Arial"/>
                <a:cs typeface="Arial"/>
              </a:defRPr>
            </a:pPr>
            <a:r>
              <a:rPr sz="1950" b="0">
                <a:solidFill>
                  <a:srgbClr val="213C33"/>
                </a:solidFill>
                <a:latin typeface="Arial"/>
                <a:ea typeface="Arial"/>
                <a:cs typeface="Arial"/>
              </a:rPr>
              <a:t>Personal applications under active development, used locally</a:t>
            </a:r>
          </a:p>
        </p:txBody>
      </p:sp>
      <p:sp>
        <p:nvSpPr>
          <p:cNvPr id="10" name="">
            <a:extLst xmlns:a="http://schemas.openxmlformats.org/drawingml/2006/main">
              <a:ext uri="{FF2B5EF4-FFF2-40B4-BE49-F238E27FC236}">
                <a16:creationId xmlns:a16="http://schemas.microsoft.com/office/drawing/2014/main" id="{E3F35F20-97C0-4A52-95B0-6F81276B86BC}"/>
              </a:ext>
            </a:extLst>
          </p:cNvPr>
          <p:cNvSpPr>
            <a:spLocks xmlns:a="http://schemas.openxmlformats.org/drawingml/2006/main" noGrp="1"/>
          </p:cNvSpPr>
          <p:nvPr/>
        </p:nvSpPr>
        <p:spPr>
          <a:xfrm xmlns:a="http://schemas.openxmlformats.org/drawingml/2006/main">
            <a:off x="685800" y="5772150"/>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15B50"/>
                </a:solidFill>
                <a:latin typeface="Arial"/>
                <a:ea typeface="Arial"/>
                <a:cs typeface="Arial"/>
              </a:defRPr>
            </a:pPr>
            <a:r>
              <a:rPr sz="1575" b="0">
                <a:solidFill>
                  <a:srgbClr val="315B50"/>
                </a:solidFill>
                <a:latin typeface="Arial"/>
                <a:ea typeface="Arial"/>
                <a:cs typeface="Arial"/>
                <a:hlinkClick xmlns:r="http://schemas.openxmlformats.org/officeDocument/2006/relationships" r:id="R459a6f9ac55745dd"/>
              </a:rPr>
              <a:t>github.com/neringabateikiene</a:t>
            </a:r>
          </a:p>
        </p:txBody>
      </p:sp>
    </p:spTree>
    <p:extLst>
      <p:ext uri="{BB962C8B-B14F-4D97-AF65-F5344CB8AC3E}">
        <p14:creationId xmlns:p14="http://schemas.microsoft.com/office/powerpoint/2010/main" val="356868626"/>
      </p:ext>
    </p:extLst>
  </p:cSld>
</p:sld>
</file>

<file path=ppt/theme/theme1.xml><?xml version="1.0" encoding="utf-8"?>
<a:theme xmlns:a="http://schemas.openxmlformats.org/drawingml/2006/main" name="Portfolio">
  <a:themeElements>
    <a:clrScheme name="Portfoli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Widescreen</ap:PresentationFormat>
  <ap:Slides>7</ap:Slides>
  <ap:Notes>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Neringa Bateikienė</dc:creator>
  <lastModifiedBy>Neringa Bateikienė</lastModifiedBy>
  <dc:title>Career CRM and NB Accounting | Product Portfolio</dc:title>
  <dcterms:created xsi:type="dcterms:W3CDTF">2026-09-17T11:51:10.1760000Z</dcterms:created>
  <dcterms:modified xsi:type="dcterms:W3CDTF">2026-09-17T11:51:10.1760000Z</dcterms:modified>
</coreProperties>
</file>